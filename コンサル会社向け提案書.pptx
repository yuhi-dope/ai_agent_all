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DB5BD"/>
                </a:solidFill>
                <a:latin typeface="Meiryo"/>
              </a:defRPr>
            </a:pPr>
            <a:r>
              <a:t>ご提案書  |  社内検討資料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3200400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eiryo"/>
              </a:defRPr>
            </a:pPr>
            <a:r>
              <a:t>AI コンサル強化プラットフォーム</a:t>
            </a:r>
            <a:br/>
            <a:r>
              <a:t>「シャチョツー」導入のご提案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EA8E0"/>
                </a:solidFill>
                <a:latin typeface="Meiryo"/>
              </a:defRPr>
            </a:pPr>
            <a:r>
              <a:t>— コンサルタント生産性 2倍 × OEMリカーリング収入の実現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DB5BD"/>
                </a:solidFill>
                <a:latin typeface="Meiryo"/>
              </a:defRPr>
            </a:pPr>
            <a:r>
              <a:t>提出先:  御社 ご担当者様</a:t>
            </a:r>
            <a:br/>
            <a:r>
              <a:t>提出元:  シャチョツー株式会社</a:t>
            </a:r>
            <a:br/>
            <a:r>
              <a:t>日付:    2026年3月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760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59D33"/>
                </a:solidFill>
                <a:latin typeface="Meiryo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エグゼクティブサマリー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ご提案の全体像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現状の課題認識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3つの構造的課題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ソリューション概要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シャチョツーで何が変わるか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導入効果（定量）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Before/After・育成効果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OEMリカーリングモデル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コンサル終了後の新収益源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料金体系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プラン・OEMマージン構造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投資対効果（ROI）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費用 vs 効果の定量分析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比較検討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自社開発 vs シャチョツー導入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リスクと対策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想定リスクと軽減策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セキュリティ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データ保護・コンプライアンス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導入スケジュール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5ステップ導入フロー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86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F5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486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3F"/>
                </a:solidFill>
                <a:latin typeface="Meiryo"/>
              </a:defRPr>
            </a:pPr>
            <a:r>
              <a:t>判断基準（稟議用）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Go/No-Go チェックリスト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01  エグゼクティブサマリー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本提案の全体像を1ページで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769620" y="1409700"/>
            <a:ext cx="10698480" cy="9144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06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1F3C"/>
                </a:solidFill>
                <a:latin typeface="Meiryo"/>
              </a:defRPr>
            </a:pPr>
            <a:r>
              <a:t>「御社のコンサルタント全員を、御社のトップコンサルタントに近づける」AIプラットフォームです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620" y="2689860"/>
            <a:ext cx="3291840" cy="237744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88920"/>
            <a:ext cx="594360" cy="594360"/>
          </a:xfrm>
          <a:prstGeom prst="ellipse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88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生産性 2倍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AF5"/>
                </a:solidFill>
                <a:latin typeface="Meiryo"/>
              </a:defRPr>
            </a:pPr>
            <a:r>
              <a:t>担当社数</a:t>
            </a:r>
            <a:br/>
            <a:r>
              <a:t>3-5社 → 8-12社/人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eiryo"/>
              </a:defRPr>
            </a:pPr>
            <a:r>
              <a:t>コンサル稼働率の天井を突破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7220" y="2689860"/>
            <a:ext cx="3291840" cy="237744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6517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2788920"/>
            <a:ext cx="594360" cy="594360"/>
          </a:xfrm>
          <a:prstGeom prst="ellipse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88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新収益源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AF5"/>
                </a:solidFill>
                <a:latin typeface="Meiryo"/>
              </a:defRPr>
            </a:pPr>
            <a:r>
              <a:t>OEMリカーリング</a:t>
            </a:r>
            <a:br/>
            <a:r>
              <a:t>マージン75%（永続）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eiryo"/>
              </a:defRPr>
            </a:pPr>
            <a:r>
              <a:t>コンサル終了後も月次収入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4820" y="2689860"/>
            <a:ext cx="3291840" cy="237744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2651760"/>
            <a:ext cx="3291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0" y="2788920"/>
            <a:ext cx="594360" cy="594360"/>
          </a:xfrm>
          <a:prstGeom prst="ellipse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788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ナレッジ資産化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383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AF5"/>
                </a:solidFill>
                <a:latin typeface="Meiryo"/>
              </a:defRPr>
            </a:pPr>
            <a:r>
              <a:t>退職しても</a:t>
            </a:r>
            <a:br/>
            <a:r>
              <a:t>知見が残る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eiryo"/>
              </a:defRPr>
            </a:pPr>
            <a:r>
              <a:t>属人化を構造的に解消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9620" y="5433060"/>
            <a:ext cx="10698480" cy="82296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33373D"/>
                </a:solidFill>
                <a:latin typeface="Meiryo"/>
              </a:defRPr>
            </a:pPr>
            <a:r>
              <a:t>導入条件:  初期費用 ¥0  ｜  お試し ¥30,000/月 × 3ヶ月  ｜  正規 ¥200,000〜/月  ｜  違約金なし  ｜  即日解約可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02  現状の課題認識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コンサルティング会社が直面する3つの構造的課題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769620" y="1409700"/>
            <a:ext cx="3474720" cy="475488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635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3545"/>
                </a:solidFill>
                <a:latin typeface="Meiryo"/>
              </a:defRPr>
            </a:pPr>
            <a:r>
              <a:t>課題①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ナレッジが個人に依存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プロジェクト知見がコンサルタント個人のPC・メモに散在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ベテラン退職 ＝ 知見ごと消失（年間退職率 15-25%）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ジュニアの立ち上がりに 6ヶ月〜1年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37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同じ失敗を繰り返す（学習が組織に蓄積しない）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8659" y="1409700"/>
            <a:ext cx="3474720" cy="475488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59" y="137160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371600"/>
            <a:ext cx="3474720" cy="635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8C00"/>
                </a:solidFill>
                <a:latin typeface="Meiryo"/>
              </a:defRPr>
            </a:pPr>
            <a:r>
              <a:t>課題②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稼働率に構造的天井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コンサルタント1人 ＝ 同時 3〜5社が限界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4747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定型作業（分析・資料作成・質問対応）に時間を消費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2062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売上 ＝ 人数 × 担当社数 → 人数に比例しスケールしない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937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採用→教育→戦力化のサイクルが遅い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7700" y="1409700"/>
            <a:ext cx="3474720" cy="475488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137160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474720" cy="635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2C1"/>
                </a:solidFill>
                <a:latin typeface="Meiryo"/>
              </a:defRPr>
            </a:pPr>
            <a:r>
              <a:t>課題③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コンサル終了後、効果が消える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3-6ヶ月のプロジェクト終了後、半年で効果が薄れる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4747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「知識移転」≒ 報告書を渡して終わり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2062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リカーリング収入がない → 毎期ゼロから営業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9377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• 「いい仕事でしたが、もう大丈夫です」で終了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03  ソリューション概要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シャチョツーが提供する3つの機能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769620" y="1409700"/>
            <a:ext cx="3474720" cy="4572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554480"/>
            <a:ext cx="594360" cy="594360"/>
          </a:xfrm>
          <a:prstGeom prst="ellipse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ナレッジ資産化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eiryo"/>
              </a:defRPr>
            </a:pPr>
            <a:r>
              <a:t>過去の知見を構造化・検索可能に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468880"/>
            <a:ext cx="292608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過去プロジェクトの知見を即座に検索・引用</a:t>
            </a:r>
            <a:br/>
            <a:r>
              <a:t>提案書ドラフトの自動生成</a:t>
            </a:r>
            <a:br/>
            <a:r>
              <a:t>業界ベンチマークをリアルタイム提供</a:t>
            </a:r>
            <a:br/>
            <a:r>
              <a:t>退職者のナレッジが永続的に組織に残る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AF5"/>
                </a:solidFill>
                <a:latin typeface="Meiryo"/>
              </a:defRPr>
            </a:pPr>
            <a:r>
              <a:t>→ 課題①を解決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8659" y="1409700"/>
            <a:ext cx="3474720" cy="4572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59" y="137160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9159" y="1554480"/>
            <a:ext cx="594360" cy="594360"/>
          </a:xfrm>
          <a:prstGeom prst="ellipse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399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コンサル生産性 2倍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eiryo"/>
              </a:defRPr>
            </a:pPr>
            <a:r>
              <a:t>AIが定型作業を代替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2468880"/>
            <a:ext cx="292608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26517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クライアントの定型質問にAIが回答</a:t>
            </a:r>
            <a:br/>
            <a:r>
              <a:t>議事録の自動要約・時系列整理</a:t>
            </a:r>
            <a:br/>
            <a:r>
              <a:t>類似案件の自動比較・チェック</a:t>
            </a:r>
            <a:br/>
            <a:r>
              <a:t>ジュニアの育成期間を1/3に短縮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AF5"/>
                </a:solidFill>
                <a:latin typeface="Meiryo"/>
              </a:defRPr>
            </a:pPr>
            <a:r>
              <a:t>→ 課題②を解決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7700" y="1409700"/>
            <a:ext cx="3474720" cy="4572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137160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58200" y="1554480"/>
            <a:ext cx="594360" cy="594360"/>
          </a:xfrm>
          <a:prstGeom prst="ellipse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5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OEMリカーリング収入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eiryo"/>
              </a:defRPr>
            </a:pPr>
            <a:r>
              <a:t>コンサル終了後の新収益源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2468880"/>
            <a:ext cx="292608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6517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コンサル知見をAIに蓄積 → 終了後も継続利用</a:t>
            </a:r>
            <a:br/>
            <a:r>
              <a:t>御社ブランドでクライアントに提供（OEM）</a:t>
            </a:r>
            <a:br/>
            <a:r>
              <a:t>マージン75%が永続的に発生</a:t>
            </a:r>
            <a:br/>
            <a:r>
              <a:t>開発・保守・セキュリティは当社負担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AF5"/>
                </a:solidFill>
                <a:latin typeface="Meiryo"/>
              </a:defRPr>
            </a:pPr>
            <a:r>
              <a:t>→ 課題③を解決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04  導入効果（定量）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主要KPIの Before / After 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50292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指標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2286000" cy="50292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44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71600"/>
            <a:ext cx="2286000" cy="50292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44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371600"/>
            <a:ext cx="1828800" cy="50292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444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改善幅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452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1947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コンサルタント1人の担当社数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87452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9476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3545"/>
                </a:solidFill>
                <a:latin typeface="Meiryo"/>
              </a:defRPr>
            </a:pPr>
            <a:r>
              <a:t>3-5社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87452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476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5B"/>
                </a:solidFill>
                <a:latin typeface="Meiryo"/>
              </a:defRPr>
            </a:pPr>
            <a:r>
              <a:t>8-12社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87452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947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AF5"/>
                </a:solidFill>
                <a:latin typeface="Meiryo"/>
              </a:defRPr>
            </a:pPr>
            <a:r>
              <a:t>2〜3倍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377440"/>
            <a:ext cx="36576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コンサルタント1人の月間売上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377440"/>
            <a:ext cx="22860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450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3545"/>
                </a:solidFill>
                <a:latin typeface="Meiryo"/>
              </a:defRPr>
            </a:pPr>
            <a:r>
              <a:t>¥150-250万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377440"/>
            <a:ext cx="22860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450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5B"/>
                </a:solidFill>
                <a:latin typeface="Meiryo"/>
              </a:defRPr>
            </a:pPr>
            <a:r>
              <a:t>¥400-600万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377440"/>
            <a:ext cx="18288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450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AF5"/>
                </a:solidFill>
                <a:latin typeface="Meiryo"/>
              </a:defRPr>
            </a:pPr>
            <a:r>
              <a:t>2倍以上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88036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2953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提案書作成工数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8803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95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3545"/>
                </a:solidFill>
                <a:latin typeface="Meiryo"/>
              </a:defRPr>
            </a:pPr>
            <a:r>
              <a:t>40時間/月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8803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95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5B"/>
                </a:solidFill>
                <a:latin typeface="Meiryo"/>
              </a:defRPr>
            </a:pPr>
            <a:r>
              <a:t>15時間/月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288036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29535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AF5"/>
                </a:solidFill>
                <a:latin typeface="Meiryo"/>
              </a:defRPr>
            </a:pPr>
            <a:r>
              <a:t>▲63%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383280"/>
            <a:ext cx="36576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3456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ジュニア育成期間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383280"/>
            <a:ext cx="22860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456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3545"/>
                </a:solidFill>
                <a:latin typeface="Meiryo"/>
              </a:defRPr>
            </a:pPr>
            <a:r>
              <a:t>6ヶ月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383280"/>
            <a:ext cx="22860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456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5B"/>
                </a:solidFill>
                <a:latin typeface="Meiryo"/>
              </a:defRPr>
            </a:pPr>
            <a:r>
              <a:t>2ヶ月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383280"/>
            <a:ext cx="18288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34564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AF5"/>
                </a:solidFill>
                <a:latin typeface="Meiryo"/>
              </a:defRPr>
            </a:pPr>
            <a:r>
              <a:t>1/3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88620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9593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コンサル終了後のリカーリング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38862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3959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3545"/>
                </a:solidFill>
                <a:latin typeface="Meiryo"/>
              </a:defRPr>
            </a:pPr>
            <a:r>
              <a:t>¥0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38862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3959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5B"/>
                </a:solidFill>
                <a:latin typeface="Meiryo"/>
              </a:defRPr>
            </a:pPr>
            <a:r>
              <a:t>¥15万/月/社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388620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0" y="3959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AF5"/>
                </a:solidFill>
                <a:latin typeface="Meiryo"/>
              </a:defRPr>
            </a:pPr>
            <a:r>
              <a:t>新規収益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389120"/>
            <a:ext cx="36576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4622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退職時のナレッジ損失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4389120"/>
            <a:ext cx="22860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0" y="44622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3545"/>
                </a:solidFill>
                <a:latin typeface="Meiryo"/>
              </a:defRPr>
            </a:pPr>
            <a:r>
              <a:t>全損失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4389120"/>
            <a:ext cx="22860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44622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5B"/>
                </a:solidFill>
                <a:latin typeface="Meiryo"/>
              </a:defRPr>
            </a:pPr>
            <a:r>
              <a:t>ゼロ（AIに蓄積）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4389120"/>
            <a:ext cx="18288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20" y="4462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AF5"/>
                </a:solidFill>
                <a:latin typeface="Meiryo"/>
              </a:defRPr>
            </a:pPr>
            <a:r>
              <a:t>100%防止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※ 担当社数UPは「コンサルタントの時間が空く→新規受注可能」として試算。売上は業界平均単価で算出。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04  導入効果（育成加速）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ジュニアコンサルタントの育成期間を1/3に短縮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Meiryo"/>
              </a:defRPr>
            </a:pPr>
            <a:r>
              <a:t>従来の育成プロセス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524304" cy="548640"/>
          </a:xfrm>
          <a:prstGeom prst="rect">
            <a:avLst/>
          </a:prstGeom>
          <a:solidFill>
            <a:srgbClr val="FFE0E0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524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Meiryo"/>
              </a:defRPr>
            </a:pPr>
            <a:r>
              <a:t>1ヶ月目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5824" y="1920240"/>
            <a:ext cx="1524304" cy="548640"/>
          </a:xfrm>
          <a:prstGeom prst="rect">
            <a:avLst/>
          </a:prstGeom>
          <a:solidFill>
            <a:srgbClr val="FFE0E0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5824" y="1965960"/>
            <a:ext cx="1524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Meiryo"/>
              </a:defRPr>
            </a:pPr>
            <a:r>
              <a:t>2ヶ月目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80129" y="1920240"/>
            <a:ext cx="1524304" cy="548640"/>
          </a:xfrm>
          <a:prstGeom prst="rect">
            <a:avLst/>
          </a:prstGeom>
          <a:solidFill>
            <a:srgbClr val="FFE0E0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0129" y="1965960"/>
            <a:ext cx="1524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Meiryo"/>
              </a:defRPr>
            </a:pPr>
            <a:r>
              <a:t>3ヶ月目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4434" y="1920240"/>
            <a:ext cx="1524304" cy="548640"/>
          </a:xfrm>
          <a:prstGeom prst="rect">
            <a:avLst/>
          </a:prstGeom>
          <a:solidFill>
            <a:srgbClr val="FFE0E0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4434" y="1965960"/>
            <a:ext cx="1524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Meiryo"/>
              </a:defRPr>
            </a:pPr>
            <a:r>
              <a:t>4ヶ月目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28739" y="1920240"/>
            <a:ext cx="1524304" cy="548640"/>
          </a:xfrm>
          <a:prstGeom prst="rect">
            <a:avLst/>
          </a:prstGeom>
          <a:solidFill>
            <a:srgbClr val="FFE0E0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8739" y="1965960"/>
            <a:ext cx="1524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Meiryo"/>
              </a:defRPr>
            </a:pPr>
            <a:r>
              <a:t>5ヶ月目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3044" y="1920240"/>
            <a:ext cx="1524304" cy="548640"/>
          </a:xfrm>
          <a:prstGeom prst="rect">
            <a:avLst/>
          </a:prstGeom>
          <a:solidFill>
            <a:srgbClr val="FFCCCC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3044" y="1965960"/>
            <a:ext cx="1524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Meiryo"/>
              </a:defRPr>
            </a:pPr>
            <a:r>
              <a:t>6ヶ月目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3545"/>
                </a:solidFill>
                <a:latin typeface="Meiryo"/>
              </a:defRPr>
            </a:pPr>
            <a:r>
              <a:t>独り立ち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Meiryo"/>
              </a:defRPr>
            </a:pPr>
            <a:r>
              <a:t>ベテランOJT → 資料読み込み → 案件見学 → 少しずつ担当 → 6ヶ月でようやく1人対応可能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5B"/>
                </a:solidFill>
                <a:latin typeface="Meiryo"/>
              </a:defRPr>
            </a:pPr>
            <a:r>
              <a:t>シャチョツー導入後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1524304" cy="548640"/>
          </a:xfrm>
          <a:prstGeom prst="rect">
            <a:avLst/>
          </a:prstGeom>
          <a:solidFill>
            <a:srgbClr val="E6F7F0"/>
          </a:solidFill>
          <a:ln w="12700">
            <a:solidFill>
              <a:srgbClr val="0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77639"/>
            <a:ext cx="1524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Meiryo"/>
              </a:defRPr>
            </a:pPr>
            <a:r>
              <a:t>1ヶ月目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55824" y="3931920"/>
            <a:ext cx="1524304" cy="548640"/>
          </a:xfrm>
          <a:prstGeom prst="rect">
            <a:avLst/>
          </a:prstGeom>
          <a:solidFill>
            <a:srgbClr val="E6F7F0"/>
          </a:solidFill>
          <a:ln w="12700">
            <a:solidFill>
              <a:srgbClr val="0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55824" y="3977639"/>
            <a:ext cx="1524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Meiryo"/>
              </a:defRPr>
            </a:pPr>
            <a:r>
              <a:t>2ヶ月目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9776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独り立ち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F3C"/>
                </a:solidFill>
                <a:latin typeface="Meiryo"/>
              </a:defRPr>
            </a:pPr>
            <a:r>
              <a:t>ジュニアがAIに質問できる例: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「この業界の標準的な利益率は？」→ AIが業界データで即回答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「前任者はこのクライアントにどう対応してた？」→ 過去の対応履歴から回答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「この提案で抜けてる観点は？」→ 過去の類似提案と比較してチェック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05  OEMリカーリングモデル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コンサル終了後の新収益源 — Salesforceモデル準拠</a:t>
            </a:r>
          </a:p>
        </p:txBody>
      </p:sp>
      <p:sp>
        <p:nvSpPr>
          <p:cNvPr id="6" name="Rectangle 5"/>
          <p:cNvSpPr/>
          <p:nvPr/>
        </p:nvSpPr>
        <p:spPr>
          <a:xfrm>
            <a:off x="769620" y="1409700"/>
            <a:ext cx="5303520" cy="16459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303520" cy="50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Meiryo"/>
              </a:defRPr>
            </a:pPr>
            <a:r>
              <a:t>従来モデル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プロジェクト: ¥300万 × 6ヶ月 = ¥1,800万</a:t>
            </a:r>
            <a:br/>
            <a:r>
              <a:t>終了後: ¥0（毎期ゼロから営業）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1780" y="1409700"/>
            <a:ext cx="5303520" cy="16459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37160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371600"/>
            <a:ext cx="5303520" cy="50800"/>
          </a:xfrm>
          <a:prstGeom prst="rect">
            <a:avLst/>
          </a:prstGeom>
          <a:solidFill>
            <a:srgbClr val="00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5B"/>
                </a:solidFill>
                <a:latin typeface="Meiryo"/>
              </a:defRPr>
            </a:pPr>
            <a:r>
              <a:t>シャチョツー導入後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011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プロジェクト: ¥1,800万 + 継続リカーリング</a:t>
            </a:r>
            <a:br/>
            <a:r>
              <a:t>OEMマージン: ¥15万/月/社（永続）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20" y="3421380"/>
            <a:ext cx="10698480" cy="1371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383280"/>
            <a:ext cx="10698480" cy="137160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06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AF5"/>
                </a:solidFill>
                <a:latin typeface="Meiryo"/>
              </a:defRPr>
            </a:pPr>
            <a:r>
              <a:t>OEM収益フロー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2D2D3F"/>
                </a:solidFill>
                <a:latin typeface="Meiryo"/>
              </a:defRPr>
            </a:pPr>
          </a:p>
          <a:p>
            <a:pPr algn="ctr">
              <a:spcBef>
                <a:spcPts val="400"/>
              </a:spcBef>
              <a:defRPr sz="1800" b="1">
                <a:solidFill>
                  <a:srgbClr val="0F1F3C"/>
                </a:solidFill>
                <a:latin typeface="Meiryo"/>
              </a:defRPr>
            </a:pPr>
            <a:r>
              <a:t>[クライアント] ─ 月額¥200,000〜 →  [御社]  ─ OEMライセンス料（25%） →  [シャチョツー]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6C757D"/>
                </a:solidFill>
                <a:latin typeface="Meiryo"/>
              </a:defRPr>
            </a:pPr>
            <a:r>
              <a:t>御社マージン: 請求額の 75%（永続）  ｜  開発・保守・インフラ・セキュリティは全て当社が負担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C"/>
                </a:solidFill>
                <a:latin typeface="Meiryo"/>
              </a:defRPr>
            </a:pPr>
            <a:r>
              <a:t>ボリュームディスカウント（Salesforce準拠）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94960"/>
            <a:ext cx="2743200" cy="36576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30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OEM経由の月間売上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5394960"/>
            <a:ext cx="1645920" cy="36576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54330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当社取り分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5394960"/>
            <a:ext cx="1645920" cy="36576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54330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御社マージン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78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〜¥500万/月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576072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578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25%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576072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5786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75%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080760"/>
            <a:ext cx="27432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10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¥500万〜2,000万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6080760"/>
            <a:ext cx="16459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610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6080760"/>
            <a:ext cx="164592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610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80%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400800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2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¥2,000万〜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640080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6426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15%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640080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6426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85%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C"/>
                </a:solidFill>
                <a:latin typeface="Meiryo"/>
              </a:defRPr>
            </a:pPr>
            <a:r>
              <a:t>10社提供時のシミュレーション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486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月間OEMマージン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965B"/>
                </a:solidFill>
                <a:latin typeface="Meiryo"/>
              </a:defRPr>
            </a:pPr>
            <a:r>
              <a:t>¥1,500,000/月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806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年間リカーリング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965B"/>
                </a:solidFill>
                <a:latin typeface="Meiryo"/>
              </a:defRPr>
            </a:pPr>
            <a:r>
              <a:t>¥18,000,000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126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LTV（平均30ヶ月・10社）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6126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965B"/>
                </a:solidFill>
                <a:latin typeface="Meiryo"/>
              </a:defRPr>
            </a:pPr>
            <a:r>
              <a:t>¥45,000,000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05  具体的な活用イメージ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御社コンサルタントの1日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280160" cy="457200"/>
          </a:xfrm>
          <a:prstGeom prst="round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朝 5分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F3C"/>
                </a:solidFill>
                <a:latin typeface="Meiryo"/>
              </a:defRPr>
            </a:pPr>
            <a:r>
              <a:t>ダッシュボード確認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83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担当クライアントのリスクアラートを確認。AIが原因仮説を3つ提示。そのままクライアントに報告。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280160" cy="457200"/>
          </a:xfrm>
          <a:prstGeom prst="roundRect">
            <a:avLst/>
          </a:prstGeom>
          <a:solidFill>
            <a:srgbClr val="00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午前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F3C"/>
                </a:solidFill>
                <a:latin typeface="Meiryo"/>
              </a:defRPr>
            </a:pPr>
            <a:r>
              <a:t>ミーティング準備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63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「A社の過去3回のMTG要点をまとめて」→ 即座に要約。同業種のベストプラクティスも提示。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280160" cy="45720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午後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886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F3C"/>
                </a:solidFill>
                <a:latin typeface="Meiryo"/>
              </a:defRPr>
            </a:pPr>
            <a:r>
              <a:t>提案書作成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343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過去の成功提案書 + A社固有データ → ドラフト自動生成。作成工数 1/3に。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79"/>
            <a:ext cx="128016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夕方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1663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F3C"/>
                </a:solidFill>
                <a:latin typeface="Meiryo"/>
              </a:defRPr>
            </a:pPr>
            <a:r>
              <a:t>新人サポート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62355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新人は「シャチョツーに聞いて」で自己解決。ベテランの時間を消費しない。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06  料金体系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社内利用プラン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769620" y="1409700"/>
            <a:ext cx="3474720" cy="41148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F3C"/>
                </a:solidFill>
                <a:latin typeface="Meiryo"/>
              </a:defRPr>
            </a:pPr>
            <a:r>
              <a:t>ライト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6AF5"/>
                </a:solidFill>
                <a:latin typeface="Meiryo"/>
              </a:defRPr>
            </a:pPr>
            <a:r>
              <a:t>¥200,000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eiryo"/>
              </a:defRPr>
            </a:pPr>
            <a:r>
              <a:t>/月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エージェント数:  1体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利用ユーザー:    〜15名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想定規模:       専門特化コンサル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8659" y="1409700"/>
            <a:ext cx="3474720" cy="41148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59" y="13716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1371600"/>
            <a:ext cx="3474720" cy="508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94959" y="1234440"/>
            <a:ext cx="1645920" cy="320040"/>
          </a:xfrm>
          <a:prstGeom prst="round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推奨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F3C"/>
                </a:solidFill>
                <a:latin typeface="Meiryo"/>
              </a:defRPr>
            </a:pPr>
            <a:r>
              <a:t>スタンダード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6AF5"/>
                </a:solidFill>
                <a:latin typeface="Meiryo"/>
              </a:defRPr>
            </a:pPr>
            <a:r>
              <a:t>¥300,000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eiryo"/>
              </a:defRPr>
            </a:pPr>
            <a:r>
              <a:t>/月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59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エージェント数:  3-5体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利用ユーザー:    〜50名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想定規模:       中堅コンサル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7700" y="1409700"/>
            <a:ext cx="3474720" cy="41148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13716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F3C"/>
                </a:solidFill>
                <a:latin typeface="Meiryo"/>
              </a:defRPr>
            </a:pPr>
            <a:r>
              <a:t>エンタープライズ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6AF5"/>
                </a:solidFill>
                <a:latin typeface="Meiryo"/>
              </a:defRPr>
            </a:pPr>
            <a:r>
              <a:t>¥500,000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57D"/>
                </a:solidFill>
                <a:latin typeface="Meiryo"/>
              </a:defRPr>
            </a:pPr>
            <a:r>
              <a:t>/月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エージェント数:  5体〜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利用ユーザー:    無制限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想定規模:       総合コンサル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9620" y="5798820"/>
            <a:ext cx="10698480" cy="54864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5760720"/>
            <a:ext cx="10698480" cy="54864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33373D"/>
                </a:solidFill>
                <a:latin typeface="Meiryo"/>
              </a:defRPr>
            </a:pPr>
            <a:r>
              <a:t>全プラン共通:  初期3ヶ月は ¥30,000/月（お試し）  →  合わなければ終了OK  ｜  違約金なし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07  投資対効果（ROI）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コンサルタント10名の会社 — スタンダードプラン適用時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Meiryo"/>
              </a:defRPr>
            </a:pPr>
            <a:r>
              <a:t>年間投資額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9620" y="1775460"/>
            <a:ext cx="4114800" cy="16459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4114800" cy="164592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3373D"/>
                </a:solidFill>
                <a:latin typeface="Meiryo"/>
              </a:defRPr>
            </a:pPr>
            <a:r>
              <a:t>月額 ¥300,000 × 12ヶ月</a:t>
            </a:r>
          </a:p>
          <a:p>
            <a:pPr algn="l">
              <a:spcBef>
                <a:spcPts val="1200"/>
              </a:spcBef>
              <a:defRPr sz="2400" b="1">
                <a:solidFill>
                  <a:srgbClr val="DC3545"/>
                </a:solidFill>
                <a:latin typeface="Meiryo"/>
              </a:defRPr>
            </a:pPr>
            <a:r>
              <a:t>年間投資額: ¥3,600,000</a:t>
            </a:r>
          </a:p>
          <a:p>
            <a:pPr algn="l">
              <a:spcBef>
                <a:spcPts val="8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※ お試し期間3ヶ月は¥30,000/月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5B"/>
                </a:solidFill>
                <a:latin typeface="Meiryo"/>
              </a:defRPr>
            </a:pPr>
            <a:r>
              <a:t>年間効果額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0" y="1775460"/>
            <a:ext cx="5943600" cy="16459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1737360"/>
            <a:ext cx="5943600" cy="1645920"/>
          </a:xfrm>
          <a:prstGeom prst="roundRect">
            <a:avLst/>
          </a:prstGeom>
          <a:solidFill>
            <a:srgbClr val="E6F7F0"/>
          </a:solidFill>
          <a:ln w="12700">
            <a:solidFill>
              <a:srgbClr val="009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">
                <a:latin typeface="Meiryo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33373D"/>
                </a:solidFill>
                <a:latin typeface="Meiryo"/>
              </a:defRPr>
            </a:pPr>
            <a:r>
              <a:t>  担当社数UP（3社→5社/人×10人）    +¥48,000,000/年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73D"/>
                </a:solidFill>
                <a:latin typeface="Meiryo"/>
              </a:defRPr>
            </a:pPr>
            <a:r>
              <a:t>  提案書作成時間削減（40h→15h/月）    +¥6,000,000/年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73D"/>
                </a:solidFill>
                <a:latin typeface="Meiryo"/>
              </a:defRPr>
            </a:pPr>
            <a:r>
              <a:t>  新人育成期間短縮（6ヶ月→2ヶ月）    +¥800,000/人</a:t>
            </a:r>
          </a:p>
          <a:p>
            <a:pPr algn="l">
              <a:spcBef>
                <a:spcPts val="1000"/>
              </a:spcBef>
              <a:defRPr sz="2400" b="1">
                <a:solidFill>
                  <a:srgbClr val="00965B"/>
                </a:solidFill>
                <a:latin typeface="Meiryo"/>
              </a:defRPr>
            </a:pPr>
            <a:r>
              <a:t>年間効果額: ¥54,000,000+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4100" y="3878580"/>
            <a:ext cx="7589520" cy="1371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3840480"/>
            <a:ext cx="7589520" cy="1371600"/>
          </a:xfrm>
          <a:prstGeom prst="roundRect">
            <a:avLst/>
          </a:prstGeom>
          <a:solidFill>
            <a:srgbClr val="006AF5"/>
          </a:solidFill>
          <a:ln w="12700">
            <a:solidFill>
              <a:srgbClr val="006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ROI:  約15倍</a:t>
            </a:r>
          </a:p>
          <a:p>
            <a:pPr algn="ctr">
              <a:spcBef>
                <a:spcPts val="400"/>
              </a:spcBef>
              <a:defRPr sz="1600" b="0">
                <a:solidFill>
                  <a:srgbClr val="CCDDFF"/>
                </a:solidFill>
                <a:latin typeface="Meiryo"/>
              </a:defRPr>
            </a:pPr>
            <a:r>
              <a:t>年間投資 ¥360万  →  年間効果 ¥5,400万+  ｜  投資回収期間: 約1ヶ月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※ 上記にOEMリカーリング収入（¥1,800万/年 ※10社時）は含まず。OEM併用時のROIはさらに拡大。</a:t>
            </a:r>
            <a:br/>
            <a:r>
              <a:t>※ 担当社数UPは新規受注可能数として試算。実際の受注は市場環境・営業力に依存。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08  比較検討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自社開発 vs シャチョツー導入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45720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35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比較項目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435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自社開発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71600"/>
            <a:ext cx="2743200" cy="45720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4356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シャチョツー導入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371600"/>
            <a:ext cx="2194560" cy="45720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435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備考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8928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73D"/>
                </a:solidFill>
                <a:latin typeface="Meiryo"/>
              </a:defRPr>
            </a:pPr>
            <a:r>
              <a:t>初期費用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892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¥5,000万〜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82880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1892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¥0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82880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8928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開発人件費+インフラ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28600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3500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73D"/>
                </a:solidFill>
                <a:latin typeface="Meiryo"/>
              </a:defRPr>
            </a:pPr>
            <a:r>
              <a:t>開発期間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350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12-18ヶ月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2286000"/>
            <a:ext cx="27432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350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即日利用開始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286000"/>
            <a:ext cx="219456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3500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POC含む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7432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28072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73D"/>
                </a:solidFill>
                <a:latin typeface="Meiryo"/>
              </a:defRPr>
            </a:pPr>
            <a:r>
              <a:t>月額ランニング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807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¥200万〜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274320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807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¥30万/月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274320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28072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人件費+インフラ+保守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20040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2644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73D"/>
                </a:solidFill>
                <a:latin typeface="Meiryo"/>
              </a:defRPr>
            </a:pPr>
            <a:r>
              <a:t>エンジニア採用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320040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32644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2-3名必要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3200400"/>
            <a:ext cx="27432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3264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不要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3200400"/>
            <a:ext cx="219456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32644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AI+インフラ+セキュリティ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6576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7216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73D"/>
                </a:solidFill>
                <a:latin typeface="Meiryo"/>
              </a:defRPr>
            </a:pPr>
            <a:r>
              <a:t>セキュリティ保守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36576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3721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自社責任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365760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0" y="37216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当社が24/365で負担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365760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3721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RLS監査含む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11480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1788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73D"/>
                </a:solidFill>
                <a:latin typeface="Meiryo"/>
              </a:defRPr>
            </a:pPr>
            <a:r>
              <a:t>業種テンプレート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411480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4178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ゼロから構築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0" y="4114800"/>
            <a:ext cx="27432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52160" y="4178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50業種対応済み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4114800"/>
            <a:ext cx="219456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0" y="41788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構築に数年相当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45720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46360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73D"/>
                </a:solidFill>
                <a:latin typeface="Meiryo"/>
              </a:defRPr>
            </a:pPr>
            <a:r>
              <a:t>ベンチマーク精度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91840" y="45720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91840" y="4636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自社30社分のみ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457200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52160" y="4636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500社+のデータ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95360" y="4572000"/>
            <a:ext cx="21945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95360" y="46360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統計的有意性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" y="502920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0932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73D"/>
                </a:solidFill>
                <a:latin typeface="Meiryo"/>
              </a:defRPr>
            </a:pPr>
            <a:r>
              <a:t>機能アップデート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91840" y="5029200"/>
            <a:ext cx="256032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91840" y="5093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自社で都度開発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52160" y="5029200"/>
            <a:ext cx="27432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52160" y="5093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5B"/>
                </a:solidFill>
                <a:latin typeface="Meiryo"/>
              </a:defRPr>
            </a:pPr>
            <a:r>
              <a:t>自動反映（無料）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95360" y="5029200"/>
            <a:ext cx="219456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5360" y="50932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73D"/>
                </a:solidFill>
                <a:latin typeface="Meiryo"/>
              </a:defRPr>
            </a:pPr>
            <a:r>
              <a:t>月次リリース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C"/>
                </a:solidFill>
                <a:latin typeface="Meiryo"/>
              </a:defRPr>
            </a:pPr>
            <a:r>
              <a:t>3年間TCO（Total Cost of Ownership）比較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3545"/>
                </a:solidFill>
                <a:latin typeface="Meiryo"/>
              </a:defRPr>
            </a:pPr>
            <a:r>
              <a:t>自社開発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26080" y="5760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¥5,000万 + ¥200万×36ヶ月 = ¥12,200万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60807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シャチョツー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26080" y="60807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¥30万×36ヶ月 = ¥1,080万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AF5"/>
                </a:solidFill>
                <a:latin typeface="Meiryo"/>
              </a:defRPr>
            </a:pPr>
            <a:r>
              <a:t>差額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26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▲¥11,120万（91%削減）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09  リスクと対策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想定されるリスクと軽減策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41148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リスク項目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71600"/>
            <a:ext cx="1097280" cy="41148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417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発生可能性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6858000" cy="41148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17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軽減策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783080"/>
            <a:ext cx="10972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783080"/>
            <a:ext cx="6858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コンサルタントが使いこなせない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011680"/>
            <a:ext cx="731520" cy="320040"/>
          </a:xfrm>
          <a:prstGeom prst="roundRect">
            <a:avLst/>
          </a:prstGeom>
          <a:solidFill>
            <a:srgbClr val="00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745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73D"/>
                </a:solidFill>
                <a:latin typeface="Meiryo"/>
              </a:defRPr>
            </a:pPr>
            <a:r>
              <a:t>UIは「質問するだけ」の直感操作。導入初期にオンボーディング支援（対面/オンライン）を提供。まず1チーム試用→全社展開の段階導入。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274320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2697480"/>
            <a:ext cx="109728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2697480"/>
            <a:ext cx="685800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34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AIの回答精度が不十分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2926080"/>
            <a:ext cx="731520" cy="32004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889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73D"/>
                </a:solidFill>
                <a:latin typeface="Meiryo"/>
              </a:defRPr>
            </a:pPr>
            <a:r>
              <a:t>全回答に引用元を表示（検証可能）。フィードバック機能で精度向上。3ヶ月の¥30,000お試し期間で品質を確認後に正規移行。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611880"/>
            <a:ext cx="10972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611880"/>
            <a:ext cx="6858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49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クライアントデータの漏洩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840480"/>
            <a:ext cx="731520" cy="320040"/>
          </a:xfrm>
          <a:prstGeom prst="roundRect">
            <a:avLst/>
          </a:prstGeom>
          <a:solidFill>
            <a:srgbClr val="00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7033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73D"/>
                </a:solidFill>
                <a:latin typeface="Meiryo"/>
              </a:defRPr>
            </a:pPr>
            <a:r>
              <a:t>DB層で完全テナント分離（RLS）。AES-256暗号化。AI学習にデータ不使用（契約保証）。AI駆動セキュリティで常時監査。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26280"/>
            <a:ext cx="274320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4526280"/>
            <a:ext cx="109728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526280"/>
            <a:ext cx="6858000" cy="91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663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ベンダーロックイン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754880"/>
            <a:ext cx="731520" cy="320040"/>
          </a:xfrm>
          <a:prstGeom prst="roundRect">
            <a:avLst/>
          </a:prstGeom>
          <a:solidFill>
            <a:srgbClr val="009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6177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73D"/>
                </a:solidFill>
                <a:latin typeface="Meiryo"/>
              </a:defRPr>
            </a:pPr>
            <a:r>
              <a:t>データはJSON/CSVで一括エクスポート可能。違約金なし・即日解約可。SLA契約明記。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4068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5440680"/>
            <a:ext cx="10972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5440680"/>
            <a:ext cx="6858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577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シャチョツーの事業継続性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669280"/>
            <a:ext cx="731520" cy="32004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532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73D"/>
                </a:solidFill>
                <a:latin typeface="Meiryo"/>
              </a:defRPr>
            </a:pPr>
            <a:r>
              <a:t>サイバー保険加入済み。解約後30日のエクスポート猶予+削除証明書。SLA契約で品質保証。データのポータビリティを確保。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10  セキュリティ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クライアントのデータを守る多層防御</a:t>
            </a:r>
          </a:p>
        </p:txBody>
      </p:sp>
      <p:sp>
        <p:nvSpPr>
          <p:cNvPr id="6" name="Rectangle 5"/>
          <p:cNvSpPr/>
          <p:nvPr/>
        </p:nvSpPr>
        <p:spPr>
          <a:xfrm>
            <a:off x="769620" y="1409700"/>
            <a:ext cx="5303520" cy="2286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C"/>
                </a:solidFill>
                <a:latin typeface="Meiryo"/>
              </a:defRPr>
            </a:pPr>
            <a:r>
              <a:t>データ保護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874520"/>
            <a:ext cx="475488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日本国内サーバー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データは国内に保管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AES-256暗号化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保存時暗号化（銀行・軍レベル）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TLS 1.3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通信時暗号化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1780" y="1409700"/>
            <a:ext cx="5303520" cy="2286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C"/>
                </a:solidFill>
                <a:latin typeface="Meiryo"/>
              </a:defRPr>
            </a:pPr>
            <a:r>
              <a:t>アクセス制御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874520"/>
            <a:ext cx="475488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完全テナント分離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DB層RLSで構造的に分離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514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ロールベースアクセス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CEO→Employee 5段階権限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JWT認証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15分有効期限+リフレッシュ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9620" y="3970020"/>
            <a:ext cx="5303520" cy="2286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C"/>
                </a:solidFill>
                <a:latin typeface="Meiryo"/>
              </a:defRPr>
            </a:pPr>
            <a:r>
              <a:t>AI安全性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4434840"/>
            <a:ext cx="475488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572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学習にデータ不使用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572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契約上保証（DPA締結）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074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PII自動検出+マスク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074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正規表現+LLMハイブリッド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77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577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全操作監査ログ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いつ誰が何をしたか記録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1780" y="3970020"/>
            <a:ext cx="5303520" cy="2286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C"/>
                </a:solidFill>
                <a:latin typeface="Meiryo"/>
              </a:defRPr>
            </a:pPr>
            <a:r>
              <a:t>運用保守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0" y="4434840"/>
            <a:ext cx="475488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4572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AI駆動セキュリティ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572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RLS監査・脆弱性スキャン自動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074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074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解約時完全削除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074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削除証明書を発行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5577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5B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5577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73D"/>
                </a:solidFill>
                <a:latin typeface="Meiryo"/>
              </a:defRPr>
            </a:pPr>
            <a:r>
              <a:t>サイバー保険加入済み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万が一の事故に備え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11  導入スケジュール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5ステップの段階導入 — リスクを最小化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420" y="1409700"/>
            <a:ext cx="2194560" cy="4572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194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194560" cy="508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AF5"/>
                </a:solidFill>
                <a:latin typeface="Meiryo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F3C"/>
                </a:solidFill>
                <a:latin typeface="Meiryo"/>
              </a:defRPr>
            </a:pPr>
            <a:r>
              <a:t>お試し導入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16459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AF5"/>
                </a:solidFill>
                <a:latin typeface="Meiryo"/>
              </a:defRPr>
            </a:pPr>
            <a:r>
              <a:t>3ヶ月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eiryo"/>
              </a:defRPr>
            </a:pPr>
            <a:r>
              <a:t>¥30,000/月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1チームで試用開始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過去の知見を10件投入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AI回答品質を検証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423160" y="3200400"/>
            <a:ext cx="228600" cy="274320"/>
          </a:xfrm>
          <a:prstGeom prst="rightArrow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44139" y="1409700"/>
            <a:ext cx="2194560" cy="4572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06039" y="1371600"/>
            <a:ext cx="2194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39" y="1371600"/>
            <a:ext cx="2194560" cy="50800"/>
          </a:xfrm>
          <a:prstGeom prst="rect">
            <a:avLst/>
          </a:prstGeom>
          <a:solidFill>
            <a:srgbClr val="005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19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6D2"/>
                </a:solidFill>
                <a:latin typeface="Meiryo"/>
              </a:defRPr>
            </a:pPr>
            <a: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1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F3C"/>
                </a:solidFill>
                <a:latin typeface="Meiryo"/>
              </a:defRPr>
            </a:pPr>
            <a:r>
              <a:t>社内浸透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59" y="2331720"/>
            <a:ext cx="16459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1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56D2"/>
                </a:solidFill>
                <a:latin typeface="Meiryo"/>
              </a:defRPr>
            </a:pPr>
            <a:r>
              <a:t>1-2ヶ月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19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Meiryo"/>
              </a:defRPr>
            </a:pPr>
            <a:r>
              <a:t>正規料金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59" y="3200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全コンサルタントに展開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59" y="3657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知見を網羅的に投入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59" y="4114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テンプレート活用開始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754879" y="3200400"/>
            <a:ext cx="228600" cy="274320"/>
          </a:xfrm>
          <a:prstGeom prst="rightArrow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75859" y="1409700"/>
            <a:ext cx="2194560" cy="4572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37759" y="1371600"/>
            <a:ext cx="2194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59" y="1371600"/>
            <a:ext cx="2194560" cy="50800"/>
          </a:xfrm>
          <a:prstGeom prst="rect">
            <a:avLst/>
          </a:prstGeom>
          <a:solidFill>
            <a:srgbClr val="004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39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42AA"/>
                </a:solidFill>
                <a:latin typeface="Meiryo"/>
              </a:defRPr>
            </a:pPr>
            <a:r>
              <a:t>STEP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3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F3C"/>
                </a:solidFill>
                <a:latin typeface="Meiryo"/>
              </a:defRPr>
            </a:pPr>
            <a:r>
              <a:t>効果検証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79" y="2331720"/>
            <a:ext cx="16459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3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42AA"/>
                </a:solidFill>
                <a:latin typeface="Meiryo"/>
              </a:defRPr>
            </a:pPr>
            <a:r>
              <a:t>1ヶ月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3200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生産性変化を測定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3657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ROIダッシュボード確認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4114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OEM提供の可否判断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086599" y="3200400"/>
            <a:ext cx="228600" cy="274320"/>
          </a:xfrm>
          <a:prstGeom prst="rightArrow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07579" y="1409700"/>
            <a:ext cx="2194560" cy="4572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269479" y="1371600"/>
            <a:ext cx="2194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69479" y="1371600"/>
            <a:ext cx="2194560" cy="50800"/>
          </a:xfrm>
          <a:prstGeom prst="rect">
            <a:avLst/>
          </a:prstGeom>
          <a:solidFill>
            <a:srgbClr val="003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59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085"/>
                </a:solidFill>
                <a:latin typeface="Meiryo"/>
              </a:defRPr>
            </a:pPr>
            <a:r>
              <a:t>STEP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59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F3C"/>
                </a:solidFill>
                <a:latin typeface="Meiryo"/>
              </a:defRPr>
            </a:pPr>
            <a:r>
              <a:t>OEM準備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43799" y="2331720"/>
            <a:ext cx="16459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5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085"/>
                </a:solidFill>
                <a:latin typeface="Meiryo"/>
              </a:defRPr>
            </a:pPr>
            <a:r>
              <a:t>1ヶ月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799" y="3200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御社ブランド設計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799" y="3657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クライアント提案資料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799" y="4114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OEM契約締結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418319" y="3200400"/>
            <a:ext cx="228600" cy="274320"/>
          </a:xfrm>
          <a:prstGeom prst="rightArrow">
            <a:avLst/>
          </a:prstGeom>
          <a:solidFill>
            <a:srgbClr val="ADB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39300" y="1409700"/>
            <a:ext cx="2194560" cy="4572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01200" y="1371600"/>
            <a:ext cx="2194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0" y="1371600"/>
            <a:ext cx="2194560" cy="50800"/>
          </a:xfrm>
          <a:prstGeom prst="rect">
            <a:avLst/>
          </a:prstGeom>
          <a:solidFill>
            <a:srgbClr val="1A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66B"/>
                </a:solidFill>
                <a:latin typeface="Meiryo"/>
              </a:defRPr>
            </a:pPr>
            <a:r>
              <a:t>STEP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F3C"/>
                </a:solidFill>
                <a:latin typeface="Meiryo"/>
              </a:defRPr>
            </a:pPr>
            <a:r>
              <a:t>OEM開始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75520" y="2331720"/>
            <a:ext cx="164592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840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6B"/>
                </a:solidFill>
                <a:latin typeface="Meiryo"/>
              </a:defRPr>
            </a:pPr>
            <a:r>
              <a:t>本格展開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3200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既存客への提案開始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3657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リカーリング計上開始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4114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73D"/>
                </a:solidFill>
                <a:latin typeface="Meiryo"/>
              </a:defRPr>
            </a:pPr>
            <a:r>
              <a:t>• 新規セット提案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[参考]  Salesforceモデルとの構造比較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Salesforce × Accenture の成功パターンを再現</a:t>
            </a:r>
          </a:p>
        </p:txBody>
      </p:sp>
      <p:sp>
        <p:nvSpPr>
          <p:cNvPr id="6" name="Rectangle 5"/>
          <p:cNvSpPr/>
          <p:nvPr/>
        </p:nvSpPr>
        <p:spPr>
          <a:xfrm>
            <a:off x="769620" y="1409700"/>
            <a:ext cx="5029200" cy="32004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Salesforce × Accenture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457200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Step 1: CRMツールとしてコンサル会社に提供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Step 2: コンサル会社が「導入支援」を新サービス化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Step 3: クライアント業務がSalesforce前提に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Step 4: Salesforceなしでは提案不可に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AF5"/>
                </a:solidFill>
                <a:latin typeface="Meiryo"/>
              </a:defRPr>
            </a:pPr>
            <a:r>
              <a:t>→ 年商¥5兆の40%+がパートナー経由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8900" y="1409700"/>
            <a:ext cx="5029200" cy="32004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029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F3C"/>
                </a:solidFill>
                <a:latin typeface="Meiryo"/>
              </a:defRPr>
            </a:pPr>
            <a:r>
              <a:t>シャチョツー × 御社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920240"/>
            <a:ext cx="4572000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Step 1: コンサル強化ツールとして御社に提供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Step 2: 御社が「ナレッジDXパッケージ」を新サービス化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Step 3: クライアントのナレッジがAIに蓄積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73D"/>
                </a:solidFill>
                <a:latin typeface="Meiryo"/>
              </a:defRPr>
            </a:pPr>
            <a:r>
              <a:t>Step 4: 御社の提案にシャチョツーが標準組込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5B"/>
                </a:solidFill>
                <a:latin typeface="Meiryo"/>
              </a:defRPr>
            </a:pPr>
            <a:r>
              <a:t>→ 売上UP + リカーリング + 顧客満足度UP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F3C"/>
                </a:solidFill>
                <a:latin typeface="Meiryo"/>
              </a:defRPr>
            </a:pPr>
            <a:r>
              <a:t>マージン構造比較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3657600" cy="3200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3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モデル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5212080"/>
            <a:ext cx="2743200" cy="3200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523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プラットフォーム取り分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5212080"/>
            <a:ext cx="2743200" cy="3200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523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パートナー取り分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53212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448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73D"/>
                </a:solidFill>
                <a:latin typeface="Meiryo"/>
              </a:defRPr>
            </a:pPr>
            <a:r>
              <a:t>Salesforce OEM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532120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55448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73D"/>
                </a:solidFill>
                <a:latin typeface="Meiryo"/>
              </a:defRPr>
            </a:pPr>
            <a:r>
              <a:t>25%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5532120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55448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5B"/>
                </a:solidFill>
                <a:latin typeface="Meiryo"/>
              </a:defRPr>
            </a:pPr>
            <a:r>
              <a:t>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806439"/>
            <a:ext cx="36576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191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73D"/>
                </a:solidFill>
                <a:latin typeface="Meiryo"/>
              </a:defRPr>
            </a:pPr>
            <a:r>
              <a:t>Salesforce ISV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5806439"/>
            <a:ext cx="27432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58191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73D"/>
                </a:solidFill>
                <a:latin typeface="Meiryo"/>
              </a:defRPr>
            </a:pPr>
            <a:r>
              <a:t>15%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5806439"/>
            <a:ext cx="27432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581913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5B"/>
                </a:solidFill>
                <a:latin typeface="Meiryo"/>
              </a:defRPr>
            </a:pPr>
            <a:r>
              <a:t>85%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080760"/>
            <a:ext cx="3657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0934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73D"/>
                </a:solidFill>
                <a:latin typeface="Meiryo"/>
              </a:defRPr>
            </a:pPr>
            <a:r>
              <a:t>シャチョツー OEM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6080760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60934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73D"/>
                </a:solidFill>
                <a:latin typeface="Meiryo"/>
              </a:defRPr>
            </a:pPr>
            <a:r>
              <a:t>25%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0" y="6080760"/>
            <a:ext cx="2743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0" y="60934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5B"/>
                </a:solidFill>
                <a:latin typeface="Meiryo"/>
              </a:defRPr>
            </a:pPr>
            <a:r>
              <a:t>75%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63677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73D"/>
                </a:solidFill>
                <a:latin typeface="Meiryo"/>
              </a:defRPr>
            </a:pPr>
            <a:r>
              <a:t>シャチョツー（高ボリューム時）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6355080"/>
            <a:ext cx="27432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63677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73D"/>
                </a:solidFill>
                <a:latin typeface="Meiryo"/>
              </a:defRPr>
            </a:pPr>
            <a:r>
              <a:t>15%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6355080"/>
            <a:ext cx="27432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0" y="63677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5B"/>
                </a:solidFill>
                <a:latin typeface="Meiryo"/>
              </a:defRPr>
            </a:pPr>
            <a:r>
              <a:t>85%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12  判断基準（稟議用）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Meiryo"/>
              </a:defRPr>
            </a:pPr>
            <a:r>
              <a:t>Go / No-Go 判断チェックリスト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5B"/>
                </a:solidFill>
                <a:latin typeface="Meiryo"/>
              </a:defRPr>
            </a:pPr>
            <a:r>
              <a:t>Go条件（以下を満たす場合、導入を推奨）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5B"/>
                </a:solidFill>
                <a:latin typeface="Meiryo"/>
              </a:defRPr>
            </a:pPr>
            <a: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コンサルタントの担当社数に天井を感じている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5B"/>
                </a:solidFill>
                <a:latin typeface="Meiryo"/>
              </a:defRPr>
            </a:pPr>
            <a: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ベテラン退職時のナレッジ流出が経営課題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5B"/>
                </a:solidFill>
                <a:latin typeface="Meiryo"/>
              </a:defRPr>
            </a:pPr>
            <a: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コンサル終了後のリカーリング収入を確保したい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5B"/>
                </a:solidFill>
                <a:latin typeface="Meiryo"/>
              </a:defRPr>
            </a:pPr>
            <a: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年間 ¥360万（月¥30万）の投資が可能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5B"/>
                </a:solidFill>
                <a:latin typeface="Meiryo"/>
              </a:defRPr>
            </a:pPr>
            <a:r>
              <a:t>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まず1チーム3ヶ月のトライアルに社内合意が取れる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5B"/>
                </a:solidFill>
                <a:latin typeface="Meiryo"/>
              </a:defRPr>
            </a:pPr>
            <a:r>
              <a:t>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AIツールの社内導入に経営層のサポートがある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Meiryo"/>
              </a:defRPr>
            </a:pPr>
            <a:r>
              <a:t>No-Go条件（以下に該当する場合は見送り）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Meiryo"/>
              </a:defRPr>
            </a:pPr>
            <a: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コンサルタント全員がITツールに強い抵抗がある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Meiryo"/>
              </a:defRPr>
            </a:pPr>
            <a: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ナレッジを組織資産にする意思がない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Meiryo"/>
              </a:defRPr>
            </a:pPr>
            <a: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月¥30,000のお試し費用も負担できない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Meiryo"/>
              </a:defRPr>
            </a:pPr>
            <a:r>
              <a:t>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73D"/>
                </a:solidFill>
                <a:latin typeface="Meiryo"/>
              </a:defRPr>
            </a:pPr>
            <a:r>
              <a:t>3ヶ月以内に効果を出す意思がない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620" y="4427220"/>
            <a:ext cx="10698480" cy="201168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06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F3C"/>
                </a:solidFill>
                <a:latin typeface="Meiryo"/>
              </a:defRPr>
            </a:pPr>
            <a:r>
              <a:t>稟議サマリー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73D"/>
                </a:solidFill>
                <a:latin typeface="Meiryo"/>
              </a:defRPr>
            </a:pPr>
            <a:r>
              <a:t>  件名:  AI コンサル強化プラットフォーム「シャチョツー」導入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73D"/>
                </a:solidFill>
                <a:latin typeface="Meiryo"/>
              </a:defRPr>
            </a:pPr>
            <a:r>
              <a:t>  投資額:  初期¥0 ｜ お試し¥30,000/月×3ヶ月 ｜ 正規¥300,000/月（スタンダード）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73D"/>
                </a:solidFill>
                <a:latin typeface="Meiryo"/>
              </a:defRPr>
            </a:pPr>
            <a:r>
              <a:t>  期待効果:  コンサル生産性2倍（年間+¥5,400万） + OEMリカーリング（年間+¥1,800万）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73D"/>
                </a:solidFill>
                <a:latin typeface="Meiryo"/>
              </a:defRPr>
            </a:pPr>
            <a:r>
              <a:t>  リスク:  3ヶ月お試し＋違約金なしにより、投資リスクは最大¥90,000に限定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33373D"/>
                </a:solidFill>
                <a:latin typeface="Meiryo"/>
              </a:defRPr>
            </a:pPr>
            <a:r>
              <a:t>  推奨:  まず1チーム（¥30,000/月×3ヶ月）でPoCを実施し、効果を検証後に全社展開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DB5BD"/>
                </a:solidFill>
                <a:latin typeface="Meiryo"/>
              </a:defRPr>
            </a:pPr>
            <a:r>
              <a:t>Confidential — シャチョツー（社長2号）ご提案書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DB5BD"/>
                </a:solidFill>
                <a:latin typeface="Meiryo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6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2324100" y="2598420"/>
            <a:ext cx="7589520" cy="301752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75895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F1F3C"/>
                </a:solidFill>
                <a:latin typeface="Meiryo"/>
              </a:defRPr>
            </a:pPr>
            <a:r>
              <a:t>まずは30分のデモ + ヒアリングから</a:t>
            </a:r>
          </a:p>
          <a:p>
            <a:pPr algn="ctr">
              <a:spcBef>
                <a:spcPts val="1000"/>
              </a:spcBef>
              <a:defRPr sz="1800" b="0">
                <a:solidFill>
                  <a:srgbClr val="33373D"/>
                </a:solidFill>
                <a:latin typeface="Meiryo"/>
              </a:defRPr>
            </a:pPr>
            <a:r>
              <a:t>① 御社のコンサルスタイル・課題をヒアリング（15分）</a:t>
            </a:r>
          </a:p>
          <a:p>
            <a:pPr algn="ctr">
              <a:spcBef>
                <a:spcPts val="1000"/>
              </a:spcBef>
              <a:defRPr sz="1800" b="0">
                <a:solidFill>
                  <a:srgbClr val="33373D"/>
                </a:solidFill>
                <a:latin typeface="Meiryo"/>
              </a:defRPr>
            </a:pPr>
            <a:r>
              <a:t>② 実際のデモで動作をお見せ（10分）</a:t>
            </a:r>
          </a:p>
          <a:p>
            <a:pPr algn="ctr">
              <a:spcBef>
                <a:spcPts val="1000"/>
              </a:spcBef>
              <a:defRPr sz="1800" b="0">
                <a:solidFill>
                  <a:srgbClr val="33373D"/>
                </a:solidFill>
                <a:latin typeface="Meiryo"/>
              </a:defRPr>
            </a:pPr>
            <a:r>
              <a:t>③ 御社に合った導入プランをご提案（5分）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2D2D3F"/>
                </a:solidFill>
                <a:latin typeface="Meiryo"/>
              </a:defRPr>
            </a:pPr>
          </a:p>
          <a:p>
            <a:pPr algn="ctr">
              <a:spcBef>
                <a:spcPts val="1200"/>
              </a:spcBef>
              <a:defRPr sz="1600" b="1">
                <a:solidFill>
                  <a:srgbClr val="006AF5"/>
                </a:solidFill>
                <a:latin typeface="Meiryo"/>
              </a:defRPr>
            </a:pPr>
            <a:r>
              <a:t>お試し: ¥30,000/月 × 3ヶ月  ｜  初期費用: ¥0  ｜  違約金: なし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EA8E0"/>
                </a:solidFill>
                <a:latin typeface="Meiryo"/>
              </a:defRPr>
            </a:pPr>
            <a:r>
              <a:t>お問い合わせ:  [ご担当者連絡先]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CONFIDENTIAL  —  シャチョツー株式会社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