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シャチョツー（社長2号）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会社のNo.2を身近に。手軽に。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D700"/>
                </a:solidFill>
              </a:defRPr>
            </a:pPr>
            <a:r>
              <a:t>建設業 ・ 製造業 ・ 歯科  対応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365D"/>
                </a:solidFill>
              </a:defRPr>
            </a:pPr>
            <a:r>
              <a:t>こんな課題ありませんか？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</a:defRPr>
            </a:pPr>
            <a:r>
              <a:t>✕  社長/院長にしかわからないことが多すぎる</a:t>
            </a:r>
          </a:p>
          <a:p>
            <a:pPr>
              <a:spcBef>
                <a:spcPts val="600"/>
              </a:spcBef>
              <a:defRPr sz="1600" b="0">
                <a:solidFill>
                  <a:srgbClr val="666666"/>
                </a:solidFill>
              </a:defRPr>
            </a:pPr>
            <a:r>
              <a:t>    出張中・不在時に判断が止まる → 現場・スタッフが動けない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</a:defRPr>
            </a:pPr>
            <a:r>
              <a:t>✕  ベテランが辞めたらノウハウが消える</a:t>
            </a:r>
          </a:p>
          <a:p>
            <a:pPr>
              <a:spcBef>
                <a:spcPts val="600"/>
              </a:spcBef>
              <a:defRPr sz="1600" b="0">
                <a:solidFill>
                  <a:srgbClr val="666666"/>
                </a:solidFill>
              </a:defRPr>
            </a:pPr>
            <a:r>
              <a:t>    暗黙知の引継ぎは「見て覚えろ」。新人の独り立ちに半年〜1年以上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383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</a:defRPr>
            </a:pPr>
            <a:r>
              <a:t>✕  情報がバラバラで見つからない</a:t>
            </a:r>
          </a:p>
          <a:p>
            <a:pPr>
              <a:spcBef>
                <a:spcPts val="600"/>
              </a:spcBef>
              <a:defRPr sz="1600" b="0">
                <a:solidFill>
                  <a:srgbClr val="666666"/>
                </a:solidFill>
              </a:defRPr>
            </a:pPr>
            <a:r>
              <a:t>    紙の帳票、Excel、レセコン、LINEのやり取り…</a:t>
            </a:r>
            <a:br/>
            <a:r>
              <a:t>「あの情報どこだっけ」で毎日30分消える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</a:defRPr>
            </a:pPr>
            <a:r>
              <a:t>✕  同じ質問に何度も答えている</a:t>
            </a:r>
          </a:p>
          <a:p>
            <a:pPr>
              <a:spcBef>
                <a:spcPts val="600"/>
              </a:spcBef>
              <a:defRPr sz="1600" b="0">
                <a:solidFill>
                  <a:srgbClr val="666666"/>
                </a:solidFill>
              </a:defRPr>
            </a:pPr>
            <a:r>
              <a:t>    社員/スタッフからの問い合わせが社長/院長に集中。月20-30時間を消費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394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</a:defRPr>
            </a:pPr>
            <a:r>
              <a:t>✕  現場の問題に気づくのがいつも遅い</a:t>
            </a:r>
          </a:p>
          <a:p>
            <a:pPr>
              <a:spcBef>
                <a:spcPts val="600"/>
              </a:spcBef>
              <a:defRPr sz="1600" b="0">
                <a:solidFill>
                  <a:srgbClr val="666666"/>
                </a:solidFill>
              </a:defRPr>
            </a:pPr>
            <a:r>
              <a:t>    数字を見て「やばい」と思った時にはもう手遅れ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365D"/>
                </a:solidFill>
              </a:defRPr>
            </a:pPr>
            <a:r>
              <a:t>シャチョツーとは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33333"/>
                </a:solidFill>
              </a:defRPr>
            </a:pPr>
            <a:r>
              <a:t>シャチョツー ＝ 社長の「黒子AI」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</a:defRPr>
            </a:pPr>
            <a:r>
              <a:t>社長が話すだけで、会社のナレッジが整理され、</a:t>
            </a:r>
            <a:br/>
            <a:r>
              <a:t>社員が質問でき、AIがリスクを先に教えてくれる。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7ACC"/>
                </a:solidFill>
              </a:defRPr>
            </a:pPr>
            <a:r>
              <a:t>社長が話す  →  AIが構造化  →  社員が活用  →  AIが提案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365D"/>
                </a:solidFill>
              </a:defRPr>
            </a:pPr>
            <a:r>
              <a:t>3つの価値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</a:defRPr>
            </a:pPr>
            <a:r>
              <a:t>❶ 話すだけでナレッジが貯まる</a:t>
            </a:r>
          </a:p>
          <a:p>
            <a:pPr>
              <a:spcBef>
                <a:spcPts val="600"/>
              </a:spcBef>
              <a:defRPr sz="1700" b="0">
                <a:solidFill>
                  <a:srgbClr val="666666"/>
                </a:solidFill>
              </a:defRPr>
            </a:pPr>
            <a:r>
              <a:t>テキスト・音声・書類、なんでもOK。</a:t>
            </a:r>
            <a:br/>
            <a:r>
              <a:t>AIが自動で整理・分類・構造化。</a:t>
            </a:r>
          </a:p>
          <a:p>
            <a:pPr>
              <a:spcBef>
                <a:spcPts val="600"/>
              </a:spcBef>
              <a:defRPr sz="800" b="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400" b="0">
                <a:solidFill>
                  <a:srgbClr val="007ACC"/>
                </a:solidFill>
              </a:defRPr>
            </a:pPr>
            <a:r>
              <a:t>建設: 積算基準、協力会社評価</a:t>
            </a:r>
            <a:br/>
            <a:r>
              <a:t>製造: 加工条件、品質基準</a:t>
            </a:r>
            <a:br/>
            <a:r>
              <a:t>歯科: 診療方針、自費案内基準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59" y="14630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</a:defRPr>
            </a:pPr>
            <a:r>
              <a:t>❷ 社員がAIに聞ける</a:t>
            </a:r>
          </a:p>
          <a:p>
            <a:pPr>
              <a:spcBef>
                <a:spcPts val="600"/>
              </a:spcBef>
              <a:defRPr sz="1700" b="0">
                <a:solidFill>
                  <a:srgbClr val="666666"/>
                </a:solidFill>
              </a:defRPr>
            </a:pPr>
            <a:r>
              <a:t>引用付きで即回答。社長の時間を奪わない。</a:t>
            </a:r>
          </a:p>
          <a:p>
            <a:pPr>
              <a:spcBef>
                <a:spcPts val="600"/>
              </a:spcBef>
              <a:defRPr sz="800" b="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400" b="0">
                <a:solidFill>
                  <a:srgbClr val="007ACC"/>
                </a:solidFill>
              </a:defRPr>
            </a:pPr>
            <a:r>
              <a:t>建設: 「この案件の積算基準は？」</a:t>
            </a:r>
            <a:br/>
            <a:r>
              <a:t>製造: 「この製品の品質基準は？」</a:t>
            </a:r>
            <a:br/>
            <a:r>
              <a:t>歯科: 「この処置の院内基準は？」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4630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</a:defRPr>
            </a:pPr>
            <a:r>
              <a:t>❸ AIが先にリスクを教える</a:t>
            </a:r>
          </a:p>
          <a:p>
            <a:pPr>
              <a:spcBef>
                <a:spcPts val="600"/>
              </a:spcBef>
              <a:defRPr sz="1700" b="0">
                <a:solidFill>
                  <a:srgbClr val="666666"/>
                </a:solidFill>
              </a:defRPr>
            </a:pPr>
            <a:r>
              <a:t>社長が気づく前にAIが気づく。</a:t>
            </a:r>
          </a:p>
          <a:p>
            <a:pPr>
              <a:spcBef>
                <a:spcPts val="600"/>
              </a:spcBef>
              <a:defRPr sz="800" b="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400" b="0">
                <a:solidFill>
                  <a:srgbClr val="007ACC"/>
                </a:solidFill>
              </a:defRPr>
            </a:pPr>
            <a:r>
              <a:t>建設: 「○○工事の工期が危ない」</a:t>
            </a:r>
            <a:br/>
            <a:r>
              <a:t>製造: 「不良率が先月比1.5倍です」</a:t>
            </a:r>
            <a:br/>
            <a:r>
              <a:t>歯科: 「リコール率が目標を下回っています」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365D"/>
                </a:solidFill>
              </a:defRPr>
            </a:pPr>
            <a:r>
              <a:t>業界テンプレートで80%完成スタート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</a:defRPr>
            </a:pPr>
            <a:r>
              <a:t>「うちの業界わかるの？」→ わかります。導入初日から80%完成。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6B08"/>
                </a:solidFill>
              </a:defRPr>
            </a:pPr>
            <a:r>
              <a:t>■ 建設業</a:t>
            </a:r>
          </a:p>
          <a:p>
            <a:pPr>
              <a:spcBef>
                <a:spcPts val="800"/>
              </a:spcBef>
              <a:defRPr sz="1500" b="0">
                <a:solidFill>
                  <a:srgbClr val="666666"/>
                </a:solidFill>
              </a:defRPr>
            </a:pPr>
            <a:r>
              <a:t>  部署: 営業 / 工事 / 品質管理 / 経理 / 総務</a:t>
            </a:r>
          </a:p>
          <a:p>
            <a:pPr>
              <a:spcBef>
                <a:spcPts val="800"/>
              </a:spcBef>
              <a:defRPr sz="1500" b="0">
                <a:solidFill>
                  <a:srgbClr val="666666"/>
                </a:solidFill>
              </a:defRPr>
            </a:pPr>
            <a:r>
              <a:t>  フロー: 受注→施工計画→施工→検査→引渡→請求</a:t>
            </a:r>
          </a:p>
          <a:p>
            <a:pPr>
              <a:spcBef>
                <a:spcPts val="800"/>
              </a:spcBef>
              <a:defRPr sz="1500" b="0">
                <a:solidFill>
                  <a:srgbClr val="666666"/>
                </a:solidFill>
              </a:defRPr>
            </a:pPr>
            <a:r>
              <a:t>  ルール: 積算基準 / 原価管理 / 安全管理</a:t>
            </a:r>
          </a:p>
          <a:p>
            <a:pPr>
              <a:spcBef>
                <a:spcPts val="800"/>
              </a:spcBef>
              <a:defRPr sz="1500" b="0">
                <a:solidFill>
                  <a:srgbClr val="666666"/>
                </a:solidFill>
              </a:defRPr>
            </a:pPr>
            <a:r>
              <a:t>  課題: 紙帳票 / Excel属人化 / 二重入力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20116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7A3D"/>
                </a:solidFill>
              </a:defRPr>
            </a:pPr>
            <a:r>
              <a:t>■ 製造業</a:t>
            </a:r>
          </a:p>
          <a:p>
            <a:pPr>
              <a:spcBef>
                <a:spcPts val="800"/>
              </a:spcBef>
              <a:defRPr sz="1500" b="0">
                <a:solidFill>
                  <a:srgbClr val="666666"/>
                </a:solidFill>
              </a:defRPr>
            </a:pPr>
            <a:r>
              <a:t>  部署: 営業 / 製造 / 品質管理 / 購買 / 経理</a:t>
            </a:r>
          </a:p>
          <a:p>
            <a:pPr>
              <a:spcBef>
                <a:spcPts val="800"/>
              </a:spcBef>
              <a:defRPr sz="1500" b="0">
                <a:solidFill>
                  <a:srgbClr val="666666"/>
                </a:solidFill>
              </a:defRPr>
            </a:pPr>
            <a:r>
              <a:t>  フロー: 受注→生産計画→製造→検品→出荷→請求</a:t>
            </a:r>
          </a:p>
          <a:p>
            <a:pPr>
              <a:spcBef>
                <a:spcPts val="800"/>
              </a:spcBef>
              <a:defRPr sz="1500" b="0">
                <a:solidFill>
                  <a:srgbClr val="666666"/>
                </a:solidFill>
              </a:defRPr>
            </a:pPr>
            <a:r>
              <a:t>  ルール: 原価計算 / 在庫管理 / 品質基準(ISO)</a:t>
            </a:r>
          </a:p>
          <a:p>
            <a:pPr>
              <a:spcBef>
                <a:spcPts val="800"/>
              </a:spcBef>
              <a:defRPr sz="1500" b="0">
                <a:solidFill>
                  <a:srgbClr val="666666"/>
                </a:solidFill>
              </a:defRPr>
            </a:pPr>
            <a:r>
              <a:t>  課題: 紙帳票 / 在庫の見える化 / 品質記録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20116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3AB5"/>
                </a:solidFill>
              </a:defRPr>
            </a:pPr>
            <a:r>
              <a:t>■ 歯科</a:t>
            </a:r>
          </a:p>
          <a:p>
            <a:pPr>
              <a:spcBef>
                <a:spcPts val="800"/>
              </a:spcBef>
              <a:defRPr sz="1500" b="0">
                <a:solidFill>
                  <a:srgbClr val="666666"/>
                </a:solidFill>
              </a:defRPr>
            </a:pPr>
            <a:r>
              <a:t>  部門: 受付 / 診療 / 歯科衛生士 / 技工 / 経理</a:t>
            </a:r>
          </a:p>
          <a:p>
            <a:pPr>
              <a:spcBef>
                <a:spcPts val="800"/>
              </a:spcBef>
              <a:defRPr sz="1500" b="0">
                <a:solidFill>
                  <a:srgbClr val="666666"/>
                </a:solidFill>
              </a:defRPr>
            </a:pPr>
            <a:r>
              <a:t>  フロー: 予約→受付→診療→会計→リコール管理</a:t>
            </a:r>
          </a:p>
          <a:p>
            <a:pPr>
              <a:spcBef>
                <a:spcPts val="800"/>
              </a:spcBef>
              <a:defRPr sz="1500" b="0">
                <a:solidFill>
                  <a:srgbClr val="666666"/>
                </a:solidFill>
              </a:defRPr>
            </a:pPr>
            <a:r>
              <a:t>  ルール: 自費/保険案内基準 / リコール間隔</a:t>
            </a:r>
          </a:p>
          <a:p>
            <a:pPr>
              <a:spcBef>
                <a:spcPts val="800"/>
              </a:spcBef>
              <a:defRPr sz="1500" b="0">
                <a:solidFill>
                  <a:srgbClr val="666666"/>
                </a:solidFill>
              </a:defRPr>
            </a:pPr>
            <a:r>
              <a:t>  課題: レセコン二重管理 / リコール漏れ / 自費率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6B08"/>
                </a:solidFill>
              </a:defRPr>
            </a:pPr>
            <a:r>
              <a:t>活用シーン ― 建設業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</a:defRPr>
            </a:pPr>
            <a:r>
              <a:t>社長の1日（導入後）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6B08"/>
                </a:solidFill>
              </a:defRPr>
            </a:pPr>
            <a:r>
              <a:t>朝（5分）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ダッシュボードでAI提案を確認</a:t>
            </a:r>
            <a:br/>
            <a:r>
              <a:t>「△△工事の協力会社手配が</a:t>
            </a:r>
            <a:br/>
            <a:r>
              <a:t>遅れています」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6B08"/>
                </a:solidFill>
              </a:defRPr>
            </a:pPr>
            <a:r>
              <a:t>日中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265176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社員の質問はAIが回答</a:t>
            </a:r>
            <a:br/>
            <a:r>
              <a:t>社長への問い合わせ激減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6B08"/>
                </a:solidFill>
              </a:defRPr>
            </a:pPr>
            <a:r>
              <a:t>移動中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65176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音声入力で話すだけ</a:t>
            </a:r>
            <a:br/>
            <a:r>
              <a:t>ナレッジに自動追加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6B08"/>
                </a:solidFill>
              </a:defRPr>
            </a:pPr>
            <a:r>
              <a:t>夕方（3分）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265176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AIの提案をレビュー</a:t>
            </a:r>
            <a:br/>
            <a:r>
              <a:t>承認 or 却下をタップ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</a:defRPr>
            </a:pPr>
            <a:r>
              <a:t>Q&amp;A例: 「この案件の積算単価はどのくらいが妥当？」</a:t>
            </a:r>
          </a:p>
          <a:p>
            <a:pPr>
              <a:spcBef>
                <a:spcPts val="600"/>
              </a:spcBef>
              <a:defRPr sz="1700" b="0">
                <a:solidFill>
                  <a:srgbClr val="007ACC"/>
                </a:solidFill>
              </a:defRPr>
            </a:pPr>
            <a:r>
              <a:t>→ 「過去3年の類似案件は坪単価¥85,000。地盤改良込みで¥92,000-95,000が妥当です」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7A3D"/>
                </a:solidFill>
              </a:defRPr>
            </a:pPr>
            <a:r>
              <a:t>活用シーン ― 製造業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</a:defRPr>
            </a:pPr>
            <a:r>
              <a:t>社長の1日（導入後）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7A3D"/>
                </a:solidFill>
              </a:defRPr>
            </a:pPr>
            <a:r>
              <a:t>朝（5分）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ダッシュボードでAI提案を確認</a:t>
            </a:r>
            <a:br/>
            <a:r>
              <a:t>「A製品の不良率が</a:t>
            </a:r>
            <a:br/>
            <a:r>
              <a:t>先月比1.5倍です」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7A3D"/>
                </a:solidFill>
              </a:defRPr>
            </a:pPr>
            <a:r>
              <a:t>日中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265176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社員の質問はAIが回答</a:t>
            </a:r>
            <a:br/>
            <a:r>
              <a:t>社長への問い合わせ激減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7A3D"/>
                </a:solidFill>
              </a:defRPr>
            </a:pPr>
            <a:r>
              <a:t>移動中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65176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音声入力で話すだけ</a:t>
            </a:r>
            <a:br/>
            <a:r>
              <a:t>ナレッジに自動追加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7A3D"/>
                </a:solidFill>
              </a:defRPr>
            </a:pPr>
            <a:r>
              <a:t>夕方（3分）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265176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AIの提案をレビュー</a:t>
            </a:r>
            <a:br/>
            <a:r>
              <a:t>承認 or 却下をタップ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</a:defRPr>
            </a:pPr>
            <a:r>
              <a:t>Q&amp;A例: 「この製品の原価率はどのくらいが妥当？」</a:t>
            </a:r>
          </a:p>
          <a:p>
            <a:pPr>
              <a:spcBef>
                <a:spcPts val="600"/>
              </a:spcBef>
              <a:defRPr sz="1700" b="0">
                <a:solidFill>
                  <a:srgbClr val="007ACC"/>
                </a:solidFill>
              </a:defRPr>
            </a:pPr>
            <a:r>
              <a:t>→ 「過去3年の類似製品は原価率73%。特殊加工込みで76-78%が妥当です」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C3AB5"/>
                </a:solidFill>
              </a:defRPr>
            </a:pPr>
            <a:r>
              <a:t>活用シーン ― 歯科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</a:defRPr>
            </a:pPr>
            <a:r>
              <a:t>院長の1日（導入後）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C3AB5"/>
                </a:solidFill>
              </a:defRPr>
            </a:pPr>
            <a:r>
              <a:t>朝（5分）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ダッシュボードでAI提案を確認</a:t>
            </a:r>
            <a:br/>
            <a:r>
              <a:t>「今月のリコール率が</a:t>
            </a:r>
            <a:br/>
            <a:r>
              <a:t>目標を下回っています」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C3AB5"/>
                </a:solidFill>
              </a:defRPr>
            </a:pPr>
            <a:r>
              <a:t>日中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265176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スタッフの質問はAIが回答</a:t>
            </a:r>
            <a:br/>
            <a:r>
              <a:t>院長への問い合わせ激減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C3AB5"/>
                </a:solidFill>
              </a:defRPr>
            </a:pPr>
            <a:r>
              <a:t>昼休み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65176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音声入力で話すだけ</a:t>
            </a:r>
            <a:br/>
            <a:r>
              <a:t>ナレッジに自動追加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C3AB5"/>
                </a:solidFill>
              </a:defRPr>
            </a:pPr>
            <a:r>
              <a:t>夕方（3分）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265176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AIの提案をレビュー</a:t>
            </a:r>
            <a:br/>
            <a:r>
              <a:t>承認 or 却下をタップ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</a:defRPr>
            </a:pPr>
            <a:r>
              <a:t>Q&amp;A例: 「この症例の自費の案内基準は？」</a:t>
            </a:r>
          </a:p>
          <a:p>
            <a:pPr>
              <a:spcBef>
                <a:spcPts val="600"/>
              </a:spcBef>
              <a:defRPr sz="1700" b="0">
                <a:solidFill>
                  <a:srgbClr val="007ACC"/>
                </a:solidFill>
              </a:defRPr>
            </a:pPr>
            <a:r>
              <a:t>→ 「院内ルールでは○○の場合は自費セラミックを第一選択。根拠: 院内マニュアルp.12」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B365D"/>
                </a:solidFill>
              </a:defRPr>
            </a:pPr>
            <a:r>
              <a:t>ナレッジが貯まると → AIが「動ける」ようになる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</a:defRPr>
            </a:pPr>
            <a:r>
              <a:t>BPO自動化: 社長が承認するだけで、AIが業務を代行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66666"/>
                </a:solidFill>
              </a:defRPr>
            </a:pPr>
            <a:r>
              <a:t>■ 今まで（人がやっていた作業）</a:t>
            </a:r>
          </a:p>
          <a:p>
            <a:pPr>
              <a:spcBef>
                <a:spcPts val="600"/>
              </a:spcBef>
              <a:defRPr sz="1500" b="0">
                <a:solidFill>
                  <a:srgbClr val="666666"/>
                </a:solidFill>
              </a:defRPr>
            </a:pPr>
            <a:r>
              <a:t>  ✕  毎月の請求データをfreeeに手入力（2時間）</a:t>
            </a:r>
          </a:p>
          <a:p>
            <a:pPr>
              <a:spcBef>
                <a:spcPts val="600"/>
              </a:spcBef>
              <a:defRPr sz="1500" b="0">
                <a:solidFill>
                  <a:srgbClr val="666666"/>
                </a:solidFill>
              </a:defRPr>
            </a:pPr>
            <a:r>
              <a:t>  ✕  日報をExcelに転記してkintoneに登録（毎日30分）</a:t>
            </a:r>
          </a:p>
          <a:p>
            <a:pPr>
              <a:spcBef>
                <a:spcPts val="600"/>
              </a:spcBef>
              <a:defRPr sz="1500" b="0">
                <a:solidFill>
                  <a:srgbClr val="666666"/>
                </a:solidFill>
              </a:defRPr>
            </a:pPr>
            <a:r>
              <a:t>  ✕  勤怠データをジョブカンに毎週まとめて入力</a:t>
            </a:r>
          </a:p>
          <a:p>
            <a:pPr>
              <a:spcBef>
                <a:spcPts val="600"/>
              </a:spcBef>
              <a:defRPr sz="1500" b="0">
                <a:solidFill>
                  <a:srgbClr val="666666"/>
                </a:solidFill>
              </a:defRPr>
            </a:pPr>
            <a:r>
              <a:t>  ✕  受注情報をANDPADと社内Excelに二重入力</a:t>
            </a:r>
          </a:p>
          <a:p>
            <a:pPr>
              <a:spcBef>
                <a:spcPts val="600"/>
              </a:spcBef>
              <a:defRPr sz="1500" b="0">
                <a:solidFill>
                  <a:srgbClr val="666666"/>
                </a:solidFill>
              </a:defRPr>
            </a:pPr>
            <a:r>
              <a:t>  ✕  レセプトデータの突合チェック（月末3時間）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ACC"/>
                </a:solidFill>
              </a:defRPr>
            </a:pPr>
            <a:r>
              <a:t>■ シャチョツー導入後</a:t>
            </a:r>
          </a:p>
          <a:p>
            <a:pPr>
              <a:spcBef>
                <a:spcPts val="600"/>
              </a:spcBef>
              <a:defRPr sz="1500" b="0">
                <a:solidFill>
                  <a:srgbClr val="333333"/>
                </a:solidFill>
              </a:defRPr>
            </a:pPr>
            <a:r>
              <a:t>  ✅  AIが請求データを自動でfreeeに反映</a:t>
            </a:r>
          </a:p>
          <a:p>
            <a:pPr>
              <a:spcBef>
                <a:spcPts val="600"/>
              </a:spcBef>
              <a:defRPr sz="1500" b="0">
                <a:solidFill>
                  <a:srgbClr val="333333"/>
                </a:solidFill>
              </a:defRPr>
            </a:pPr>
            <a:r>
              <a:t>  ✅  音声日報 → AI構造化 → kintoneに自動登録</a:t>
            </a:r>
          </a:p>
          <a:p>
            <a:pPr>
              <a:spcBef>
                <a:spcPts val="600"/>
              </a:spcBef>
              <a:defRPr sz="1500" b="0">
                <a:solidFill>
                  <a:srgbClr val="333333"/>
                </a:solidFill>
              </a:defRPr>
            </a:pPr>
            <a:r>
              <a:t>  ✅  勤怠データを自動集計・自動入力</a:t>
            </a:r>
          </a:p>
          <a:p>
            <a:pPr>
              <a:spcBef>
                <a:spcPts val="600"/>
              </a:spcBef>
              <a:defRPr sz="1500" b="0">
                <a:solidFill>
                  <a:srgbClr val="333333"/>
                </a:solidFill>
              </a:defRPr>
            </a:pPr>
            <a:r>
              <a:t>  ✅  受注情報を1回入力 → 全SaaSに自動連携</a:t>
            </a:r>
          </a:p>
          <a:p>
            <a:pPr>
              <a:spcBef>
                <a:spcPts val="600"/>
              </a:spcBef>
              <a:defRPr sz="1500" b="0">
                <a:solidFill>
                  <a:srgbClr val="333333"/>
                </a:solidFill>
              </a:defRPr>
            </a:pPr>
            <a:r>
              <a:t>  ✅  レセプトの突合を自動チェック → 差異のみ通知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</a:defRPr>
            </a:pPr>
            <a:r>
              <a:t>削減効果（1社あたり）</a:t>
            </a:r>
          </a:p>
          <a:p>
            <a:pPr>
              <a:spcBef>
                <a:spcPts val="600"/>
              </a:spcBef>
              <a:defRPr sz="1800" b="1">
                <a:solidFill>
                  <a:srgbClr val="007ACC"/>
                </a:solidFill>
              </a:defRPr>
            </a:pPr>
            <a:r>
              <a:t>月20〜50時間の手作業を削減  →  金額換算 ¥60,000〜150,000/月  →  人件費の再配分が可能に</a:t>
            </a:r>
          </a:p>
          <a:p>
            <a:pPr>
              <a:spcBef>
                <a:spcPts val="600"/>
              </a:spcBef>
              <a:defRPr sz="1500" b="0">
                <a:solidFill>
                  <a:srgbClr val="666666"/>
                </a:solidFill>
              </a:defRPr>
            </a:pPr>
            <a:r>
              <a:t>※ 全操作に承認フローあり。AIが勝手に実行することはありません。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B365D"/>
                </a:solidFill>
              </a:defRPr>
            </a:pPr>
            <a:r>
              <a:t>さらに先へ — AIが「気づき」「考え」「提案する」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</a:defRPr>
            </a:pPr>
            <a:r>
              <a:t>Engineer支援: 暗黙知を発見し、業務改善を自動で提案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65C00"/>
                </a:solidFill>
              </a:defRPr>
            </a:pPr>
            <a:r>
              <a:t>行動推論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社員の行動パターンから</a:t>
            </a:r>
            <a:br/>
            <a:r>
              <a:t>「暗黙のルール」を自動発見。</a:t>
            </a:r>
            <a:br/>
            <a:br/>
            <a:r>
              <a:t>例: 「ベテランのAさんは</a:t>
            </a:r>
            <a:br/>
            <a:r>
              <a:t>雨の日の前日に必ず</a:t>
            </a:r>
            <a:br/>
            <a:r>
              <a:t>資材を追加発注している」</a:t>
            </a:r>
            <a:br/>
            <a:r>
              <a:t>→ ルール化して全員に共有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0116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65C00"/>
                </a:solidFill>
              </a:defRPr>
            </a:pPr>
            <a:r>
              <a:t>要件定義の自動生成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65176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「こういう業務を改善したい」と</a:t>
            </a:r>
            <a:br/>
            <a:r>
              <a:t>社長が話すだけで、</a:t>
            </a:r>
            <a:br/>
            <a:r>
              <a:t>AIが要件定義書を作成。</a:t>
            </a:r>
            <a:br/>
            <a:br/>
            <a:r>
              <a:t>必要な情報が足りなければ</a:t>
            </a:r>
            <a:br/>
            <a:r>
              <a:t>AIが質問して補完。</a:t>
            </a:r>
            <a:br/>
            <a:r>
              <a:t>→ そのままエンジニアに渡せる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0116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65C00"/>
                </a:solidFill>
              </a:defRPr>
            </a:pPr>
            <a:r>
              <a:t>業界ベンチマーク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65176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同業他社（匿名）と比較して</a:t>
            </a:r>
            <a:br/>
            <a:r>
              <a:t>自社の立ち位置がわかる。</a:t>
            </a:r>
            <a:br/>
            <a:br/>
            <a:r>
              <a:t>例: 「御社の原価率は業界平均</a:t>
            </a:r>
            <a:br/>
            <a:r>
              <a:t>より8%高い。主因は○○工程」</a:t>
            </a:r>
            <a:br/>
            <a:r>
              <a:t>→ 改善ポイントが一目瞭然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ACC"/>
                </a:solidFill>
              </a:defRPr>
            </a:pPr>
            <a:r>
              <a:t>→ ナレッジが貯まるほど精度が上がる。早く始めた企業ほど恩恵が大きい。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365D"/>
                </a:solidFill>
              </a:defRPr>
            </a:pPr>
            <a:r>
              <a:t>料金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ACC"/>
                </a:solidFill>
              </a:defRPr>
            </a:pPr>
            <a:r>
              <a:t>全プラン共通: 最初の3ヶ月は月額 ¥30,000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2103120"/>
          <a:ext cx="9144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6400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ライト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スタンダード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エンタープライズ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33333"/>
                          </a:solidFill>
                        </a:defRPr>
                      </a:pPr>
                      <a:r>
                        <a:t>月額（税抜）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¥200,000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¥300,000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¥500,000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33333"/>
                          </a:solidFill>
                        </a:defRPr>
                      </a:pPr>
                      <a:r>
                        <a:t>エージェント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1体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3〜5体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5体〜無制限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33333"/>
                          </a:solidFill>
                        </a:defRPr>
                      </a:pPr>
                      <a:r>
                        <a:t>ユーザー数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〜15名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〜50名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無制限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33333"/>
                          </a:solidFill>
                        </a:defRPr>
                      </a:pPr>
                      <a:r>
                        <a:t>想定企業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単一事業/1医院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複数事業/2-3院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グループ/5院+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</a:defRPr>
            </a:pPr>
            <a:r>
              <a:t>まず3ヶ月、ナレッジを貯めてください。効果を実感してから正式にご検討ください。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365D"/>
                </a:solidFill>
              </a:defRPr>
            </a:pPr>
            <a:r>
              <a:t>投資対効果（ROI）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</a:defRPr>
            </a:pPr>
            <a:r>
              <a:t>ライトプラン（¥200,000/月）の場合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6400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</a:tblGrid>
              <a:tr h="6400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効果項目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金額換算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333333"/>
                          </a:solidFill>
                        </a:defRPr>
                      </a:pPr>
                      <a:r>
                        <a:t>社長/院長の時間削減（月20-30h）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</a:defRPr>
                      </a:pPr>
                      <a:r>
                        <a:t>¥60,000〜90,000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333333"/>
                          </a:solidFill>
                        </a:defRPr>
                      </a:pPr>
                      <a:r>
                        <a:t>情報検索時間の削減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</a:defRPr>
                      </a:pPr>
                      <a:r>
                        <a:t>¥30,000〜50,000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333333"/>
                          </a:solidFill>
                        </a:defRPr>
                      </a:pPr>
                      <a:r>
                        <a:t>属人化リスクの低減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</a:defRPr>
                      </a:pPr>
                      <a:r>
                        <a:t>プライスレス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333333"/>
                          </a:solidFill>
                        </a:defRPr>
                      </a:pPr>
                      <a:r>
                        <a:t>AIによるリスク回避・改善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</a:defRPr>
                      </a:pPr>
                      <a:r>
                        <a:t>¥50,000〜150,000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0" y="22860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7ACC"/>
                </a:solidFill>
              </a:defRPr>
            </a:pPr>
            <a:r>
              <a:t>ROI</a:t>
            </a:r>
            <a:br/>
            <a:r>
              <a:t>1.0〜1.5倍+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1148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</a:defRPr>
            </a:pPr>
            <a:r>
              <a:t>合計価値:</a:t>
            </a:r>
            <a:br/>
            <a:r>
              <a:t>¥140,000〜290,000+/月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365D"/>
                </a:solidFill>
              </a:defRPr>
            </a:pPr>
            <a:r>
              <a:t>競合比較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515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5715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シャチョツー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ChatGPT/Copilot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経営コンサル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33333"/>
                          </a:solidFill>
                        </a:defRPr>
                      </a:pPr>
                      <a:r>
                        <a:t>御社専用の知識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7ACC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×（汎用）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△（属人的）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33333"/>
                          </a:solidFill>
                        </a:defRPr>
                      </a:pPr>
                      <a:r>
                        <a:t>24時間対応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7ACC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7ACC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×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33333"/>
                          </a:solidFill>
                        </a:defRPr>
                      </a:pPr>
                      <a:r>
                        <a:t>業界テンプレ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7ACC"/>
                          </a:solidFill>
                        </a:defRPr>
                      </a:pPr>
                      <a:r>
                        <a:t>○（3業種対応）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×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33333"/>
                          </a:solidFill>
                        </a:defRPr>
                      </a:pPr>
                      <a:r>
                        <a:t>能動提案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7ACC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△（月1回）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33333"/>
                          </a:solidFill>
                        </a:defRPr>
                      </a:pPr>
                      <a:r>
                        <a:t>SaaS自動実行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7ACC"/>
                          </a:solidFill>
                        </a:defRPr>
                      </a:pPr>
                      <a:r>
                        <a:t>○（将来）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×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33333"/>
                          </a:solidFill>
                        </a:defRPr>
                      </a:pPr>
                      <a:r>
                        <a:t>月額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¥200,000〜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¥3,000/人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¥300,000〜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33333"/>
                          </a:solidFill>
                        </a:defRPr>
                      </a:pPr>
                      <a:r>
                        <a:t>知識の蓄積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永続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リセットされる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担当者依存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365D"/>
                </a:solidFill>
              </a:defRPr>
            </a:pPr>
            <a:r>
              <a:t>セキュリティ — 御社のナレッジを守る仕組み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2100" b="0">
                <a:solidFill>
                  <a:srgbClr val="333333"/>
                </a:solidFill>
              </a:defRPr>
            </a:pPr>
            <a:r>
              <a:t>✅  日本国内のサーバーに保管</a:t>
            </a:r>
          </a:p>
          <a:p>
            <a:pPr>
              <a:spcBef>
                <a:spcPts val="1200"/>
              </a:spcBef>
              <a:defRPr sz="2100" b="0">
                <a:solidFill>
                  <a:srgbClr val="333333"/>
                </a:solidFill>
              </a:defRPr>
            </a:pPr>
            <a:r>
              <a:t>✅  銀行レベルの暗号化（AES-256-GCM）</a:t>
            </a:r>
          </a:p>
          <a:p>
            <a:pPr>
              <a:spcBef>
                <a:spcPts val="1200"/>
              </a:spcBef>
              <a:defRPr sz="2100" b="0">
                <a:solidFill>
                  <a:srgbClr val="333333"/>
                </a:solidFill>
              </a:defRPr>
            </a:pPr>
            <a:r>
              <a:t>✅  他社データとは完全に壁で分離</a:t>
            </a:r>
          </a:p>
          <a:p>
            <a:pPr>
              <a:spcBef>
                <a:spcPts val="1200"/>
              </a:spcBef>
              <a:defRPr sz="2100" b="0">
                <a:solidFill>
                  <a:srgbClr val="333333"/>
                </a:solidFill>
              </a:defRPr>
            </a:pPr>
            <a:r>
              <a:t>✅  AIの学習にデータは一切使われない</a:t>
            </a:r>
          </a:p>
          <a:p>
            <a:pPr>
              <a:spcBef>
                <a:spcPts val="1200"/>
              </a:spcBef>
              <a:defRPr sz="2100" b="0">
                <a:solidFill>
                  <a:srgbClr val="333333"/>
                </a:solidFill>
              </a:defRPr>
            </a:pPr>
            <a:r>
              <a:t>✅  当社スタッフも無断でデータにアクセスできない</a:t>
            </a:r>
          </a:p>
          <a:p>
            <a:pPr>
              <a:spcBef>
                <a:spcPts val="1200"/>
              </a:spcBef>
              <a:defRPr sz="2100" b="0">
                <a:solidFill>
                  <a:srgbClr val="333333"/>
                </a:solidFill>
              </a:defRPr>
            </a:pPr>
            <a:r>
              <a:t>✅  万一の漏洩時はサイバー保険で補償 + 72時間以内に通知</a:t>
            </a:r>
          </a:p>
          <a:p>
            <a:pPr>
              <a:spcBef>
                <a:spcPts val="1200"/>
              </a:spcBef>
              <a:defRPr sz="2100" b="0">
                <a:solidFill>
                  <a:srgbClr val="333333"/>
                </a:solidFill>
              </a:defRPr>
            </a:pPr>
            <a:r>
              <a:t>✅  解約時はデータ完全削除 + 削除証明書を発行</a:t>
            </a:r>
          </a:p>
          <a:p>
            <a:pPr>
              <a:spcBef>
                <a:spcPts val="1200"/>
              </a:spcBef>
              <a:defRPr sz="2100" b="0">
                <a:solidFill>
                  <a:srgbClr val="333333"/>
                </a:solidFill>
              </a:defRPr>
            </a:pPr>
            <a:r>
              <a:t>✅  歯科: 要配慮個人情報（病歴等）対応 + 3省2ガイドライン準拠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365D"/>
                </a:solidFill>
              </a:defRPr>
            </a:pPr>
            <a:r>
              <a:t>導入フロー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ACC"/>
                </a:solidFill>
              </a:defRPr>
            </a:pPr>
            <a:r>
              <a:t>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お申込み</a:t>
            </a:r>
            <a:br/>
            <a:r>
              <a:t>（5分）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</a:defRPr>
            </a:pPr>
            <a:r>
              <a:t>オンラインで</a:t>
            </a:r>
            <a:br/>
            <a:r>
              <a:t>即日利用開始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645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ACC"/>
                </a:solidFill>
              </a:defRPr>
            </a:pPr>
            <a:r>
              <a:t>Step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2860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テンプレート</a:t>
            </a:r>
            <a:br/>
            <a:r>
              <a:t>選択（10分）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38328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</a:defRPr>
            </a:pPr>
            <a:r>
              <a:t>建設/製造/歯科</a:t>
            </a:r>
            <a:br/>
            <a:r>
              <a:t>から選択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645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ACC"/>
                </a:solidFill>
              </a:defRPr>
            </a:pPr>
            <a:r>
              <a:t>Step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2860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ナレッジ入力</a:t>
            </a:r>
            <a:br/>
            <a:r>
              <a:t>（初週）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38328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</a:defRPr>
            </a:pPr>
            <a:r>
              <a:t>話す/入力/</a:t>
            </a:r>
            <a:br/>
            <a:r>
              <a:t>書類取込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645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ACC"/>
                </a:solidFill>
              </a:defRPr>
            </a:pPr>
            <a:r>
              <a:t>Step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2860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社員がQ&amp;A</a:t>
            </a:r>
            <a:br/>
            <a:r>
              <a:t>（2-3週目）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38328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</a:defRPr>
            </a:pPr>
            <a:r>
              <a:t>社長に聞く代わり</a:t>
            </a:r>
            <a:br/>
            <a:r>
              <a:t>にAIに聞く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1645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ACC"/>
                </a:solidFill>
              </a:defRPr>
            </a:pPr>
            <a:r>
              <a:t>Step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22860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能動提案</a:t>
            </a:r>
            <a:br/>
            <a:r>
              <a:t>（1ヶ月目〜）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338328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</a:defRPr>
            </a:pPr>
            <a:r>
              <a:t>AIがリスク・改善</a:t>
            </a:r>
            <a:br/>
            <a:r>
              <a:t>を先に教える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7ACC"/>
                </a:solidFill>
              </a:defRPr>
            </a:pPr>
            <a:r>
              <a:t>→ 3ヶ月後、「これなしでは困る」状態に。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365D"/>
                </a:solidFill>
              </a:defRPr>
            </a:pPr>
            <a:r>
              <a:t>よくある質問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</a:defRPr>
            </a:pPr>
            <a:r>
              <a:t>Q: ChatGPTと何が違うの？</a:t>
            </a:r>
          </a:p>
          <a:p>
            <a:pPr>
              <a:spcBef>
                <a:spcPts val="600"/>
              </a:spcBef>
              <a:defRPr sz="1700" b="0">
                <a:solidFill>
                  <a:srgbClr val="666666"/>
                </a:solidFill>
              </a:defRPr>
            </a:pPr>
            <a:r>
              <a:t>ChatGPT = 汎用的な「物知り」。誰に聞いても同じ答え。</a:t>
            </a:r>
            <a:br/>
            <a:r>
              <a:t>シャチョツー = 御社専用の「参謀」。御社のナレッジ・ルール・業界知識に基づいて回答。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</a:defRPr>
            </a:pPr>
            <a:r>
              <a:t>Q: ITに詳しくないけど使える？</a:t>
            </a:r>
          </a:p>
          <a:p>
            <a:pPr>
              <a:spcBef>
                <a:spcPts val="600"/>
              </a:spcBef>
              <a:defRPr sz="1700" b="0">
                <a:solidFill>
                  <a:srgbClr val="666666"/>
                </a:solidFill>
              </a:defRPr>
            </a:pPr>
            <a:r>
              <a:t>話すだけでOK。スマホでも使えます。専門的な設定は不要です。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7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</a:defRPr>
            </a:pPr>
            <a:r>
              <a:t>Q: 他社にうちの情報が見えない？</a:t>
            </a:r>
          </a:p>
          <a:p>
            <a:pPr>
              <a:spcBef>
                <a:spcPts val="600"/>
              </a:spcBef>
              <a:defRPr sz="1700" b="0">
                <a:solidFill>
                  <a:srgbClr val="666666"/>
                </a:solidFill>
              </a:defRPr>
            </a:pPr>
            <a:r>
              <a:t>データベースの仕組みで完全に壁があります。アプリにバグがあっても絶対に見えません。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</a:defRPr>
            </a:pPr>
            <a:r>
              <a:t>Q: 途中で辞められる？</a:t>
            </a:r>
          </a:p>
          <a:p>
            <a:pPr>
              <a:spcBef>
                <a:spcPts val="600"/>
              </a:spcBef>
              <a:defRPr sz="1700" b="0">
                <a:solidFill>
                  <a:srgbClr val="666666"/>
                </a:solidFill>
              </a:defRPr>
            </a:pPr>
            <a:r>
              <a:t>はい。違約金なし。データはJSON/CSVでエクスポート可能。削除証明書も発行。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65D"/>
                </a:solidFill>
              </a:defRPr>
            </a:pPr>
            <a:r>
              <a:t>今後のロードマップ — 使い続けるほど賢く、できることが増える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7ACC"/>
                </a:solidFill>
              </a:defRPr>
            </a:pPr>
            <a:r>
              <a:t>導入〜3ヶ月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ナレッジ蓄積期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✅ ナレッジ入力（音声/テキスト/書類）</a:t>
            </a:r>
            <a:br/>
            <a:r>
              <a:t>✅ Q&amp;A（社員がAIに質問）</a:t>
            </a:r>
            <a:br/>
            <a:r>
              <a:t>✅ 能動提案（リスク・改善を通知）</a:t>
            </a:r>
            <a:br/>
            <a:r>
              <a:t>✅ 業界テンプレート（80%完成）</a:t>
            </a:r>
            <a:br/>
            <a:r>
              <a:t>✅ ダッシュボード（充足度マップ）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3716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E7D32"/>
                </a:solidFill>
              </a:defRPr>
            </a:pPr>
            <a:r>
              <a:t>4ヶ月目〜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288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BPO自動化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37744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🔜 SaaS自動操作</a:t>
            </a:r>
            <a:br/>
            <a:r>
              <a:t>   kintone / freee / ANDPAD 等</a:t>
            </a:r>
            <a:br/>
            <a:r>
              <a:t>🔜 ナレッジに基づくタスク自動実行</a:t>
            </a:r>
            <a:br/>
            <a:r>
              <a:t>🔜 承認フロー付き（勝手にはやらない）</a:t>
            </a:r>
            <a:br/>
            <a:r>
              <a:t>🔜 ROI自動計測ダッシュボード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3716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65C00"/>
                </a:solidFill>
              </a:defRPr>
            </a:pPr>
            <a:r>
              <a:t>6ヶ月目〜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Engineer支援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37744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🔮 行動推論（暗黙知の自動発見）</a:t>
            </a:r>
            <a:br/>
            <a:r>
              <a:t>🔮 業務改善の要件定義を自動生成</a:t>
            </a:r>
            <a:br/>
            <a:r>
              <a:t>🔮 社内システム改修の提案・実行</a:t>
            </a:r>
            <a:br/>
            <a:r>
              <a:t>🔮 業界ベンチマーク（匿名比較）</a:t>
            </a:r>
            <a:br/>
            <a:r>
              <a:t>🔮 他業種テンプレート順次追加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ACC"/>
                </a:solidFill>
              </a:defRPr>
            </a:pPr>
            <a:r>
              <a:t>→ 早く始めた企業ほど、ナレッジが貯まり、AIの精度が高く、自動化の恩恵が大きい。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まずは3ヶ月、</a:t>
            </a:r>
            <a:br/>
            <a:r>
              <a:t>月¥30,000でお試しください。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2400" b="0">
                <a:solidFill>
                  <a:srgbClr val="FFFFFF"/>
                </a:solidFill>
              </a:defRPr>
            </a:pPr>
            <a:r>
              <a:t>✅ 初日から業界テンプレートで即利用可能（建設・製造・歯科）</a:t>
            </a:r>
          </a:p>
          <a:p>
            <a:pPr>
              <a:spcBef>
                <a:spcPts val="1200"/>
              </a:spcBef>
              <a:defRPr sz="2400" b="0">
                <a:solidFill>
                  <a:srgbClr val="FFFFFF"/>
                </a:solidFill>
              </a:defRPr>
            </a:pPr>
            <a:r>
              <a:t>✅ 3ヶ月で効果を実感</a:t>
            </a:r>
          </a:p>
          <a:p>
            <a:pPr>
              <a:spcBef>
                <a:spcPts val="1200"/>
              </a:spcBef>
              <a:defRPr sz="2400" b="0">
                <a:solidFill>
                  <a:srgbClr val="FFFFFF"/>
                </a:solidFill>
              </a:defRPr>
            </a:pPr>
            <a:r>
              <a:t>✅ 合わなければそのまま終了（違約金なし）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D700"/>
                </a:solidFill>
              </a:defRPr>
            </a:pPr>
            <a:r>
              <a:t>今月中のお申込みでオンボーディング支援（¥100,000）を無料！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